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speech on the title — go straight into the hook on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December 2021. Kak Ros runs a kedai runcit in Taman Sri Muda. The government's river station — two-point-nine kilometres away — crossed WARNING at two in the afternoon. The warning was published. She lost forty thousand ringgit anyway. Not because the warning didn't exist — because nobody translated 'river at warning' into her freezer, her rice sacks, her next three hours. The brief asks us to keep one place running when the weather turns bad. We picked the flood-prone kedai — and we found why the warnings already there don't help.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mapped the system. Rain feeds rivers; Malaysia has world-class telemetry — around two hundred live river stations with published danger thresholds. That data reaches an agency dashboard — and then it stops. Between the river gauge and the shop floor is a gap we call the last metre. Everything upstream is solved and expensive. Everything downstream — a flooded shop, a denied claim, a panic loan — flows from this one broken link. On the iceberg: the event is a flooded shop; the pattern is the same shops flooding every monsoon despite warnings; the structure is warnings that are river-centric with no shop-level translation and no evidence trail; the mental model is 'banjir is fate.' The brief's own question is 'what if floods double?' — they will, and every extra flood widens exactly this gap. So the last metre is our intervention point: the highest-leverage, lowest-cost place in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a flood isn't water, it's money. The chain: weather event, what's hit, effect, cost. Water reaches her floor-level freezer and stock and triggers all four money effects at once — damaged goods, lost sales while she's shut, cleanup costs, and a costlier loan because with no evidence her claim is denied. December 2021 was six-point-one billion ringgit nationally. Every ringgit started as a shop like hers — and that RM 6.1 billion is the market we're addressing.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BanjirKawan. The design principle answers the brief's own systems angle — 'the fix needs power, phones and roads too' — so the AI is never in the storm path. On a dry day, AI vision turns five phone photos into a risk map of every asset — its height off the floor, its ringgit value — and the owner confirms it, so nothing is hallucinated. We pre-compute tiered action playbooks and cache them. When the flood comes, the alert path is dumb, deterministic code — threshold, cache lookup, send. And after the flood, five photos become an itemised claim report whose evidence is the river authority's own telemetry.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isn't a concept — we've built and deployed it. It's monitoring 301 real river stations, it's already caught two real escalations this week, and here's a warning firing to a shop owner's phone and the action ticking off, live. Built product, real data — that de-risks everything I'm about to say about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It's B2B2C, and the systems view hands us three payers — and the shop is the smallest of them. One, insurers and takaful — this is the anchor. A completed checklist is a claim that never happens; a verified, telemetry-backed report is a claim that costs minutes instead of adjuster-weeks. We sell risk reduction and faster, cheaper claims — priced per policy or per claim avoided. Two, state and local councils — flood resilience for their SMEs at software cost, a whole district for a rounding error in a disaster budget. Three, the kedai, freemium at nineteen ringgit a month. And the economics are the point: onboarding uses one AI call on a dry day, and every storm-time alert after that is a database lookup and one message — the marginal cost per shop per flood is effectively zero. So it scales to the whole six-point-one-billion problem without cost scaling with it. And it compounds: every shop builds a data moat — site graphs and behavioural data no competitor and no government dashboard has. We go to market through one takaful partner and one council pilot — a single flood-prone street, measured against the street next to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we measure impact, not adjectives — these are pulled live from our running system: RM 10,600 to 22,200 protected in a single event, a three-hour-twelve-minute warning window, 83% of actions completed, first action in 90 seconds, and a claim report produced in four minutes versus weeks by hand. Those are the numbers a takaful actuary and a council both underwrite against.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systems core. Today's response pays out after the flood — relief and loans. In systems terms that's the 'Shifting the Burden' archetype: leaning on the symptomatic quick fix lets real resilience wither, so the problem keeps returning. And it drives a vicious reinforcing loop — a flood causes loss, loss forces debt, debt thins the buffer, so the next flood hits harder, until the shop closes or the family is displaced and the neighbourhood loses its shop. That loop falls first on those least able to absorb it — the uninsured, the informal, women-run micro-businesses like Kak Ros. This is where fairness meets systems. Our move is to shift the intervention upstream and reverse the loop: an early warning drives action, action means less loss, less loss plus telemetry-backed evidence means a faster payout, that builds trust, trust brings more shops, more shops means better data and better playbooks. Same loop, run the other way. That's the leverage 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because a flood is a whole system, we designed for the whole system — not just the shop. Resilient: if the data feed dies a watchdog tells every shop to treat heavy rain as a warning; if the network dies the earliest tier already fired and there's a paper plan on the wall — three channels, Telegram, SMS and paper, because the fix needs power, phones and roads too. Fair by design: the insurer-and-council funding subsidises the shops least able to pay, and the owner owns their data — because a warning you need resources to act on is regressive. And we named the unintended consequences and designed against them: insurers could use risk data to redline and drop the most exposed — so we sell resilience and verified claims, not risk-scoring for exclusion, and we keep the data owner-owned; a digital divide — so SMS and paper; alert fatigue and dependency — so tiered alerts with a debounce and the owner always in control. A systems approach means anticipating the harm, not just the good.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place. One broken link — the last metre. One intervention, and we've already built it, deployed it, and put a business around it. Every flood warning becomes a shop's personal survival plan, and every survival plan becomes its claim evidence. The rivers are already telling us. BanjirKawan makes sure Kak Ros hears it in time — and gets paid after.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1091672" cy="1097280"/>
          </a:xfrm>
          <a:prstGeom prst="rect">
            <a:avLst/>
          </a:prstGeom>
          <a:noFill/>
        </p:spPr>
        <p:txBody>
          <a:bodyPr wrap="square" anchor="t">
            <a:spAutoFit/>
          </a:bodyPr>
          <a:lstStyle/>
          <a:p>
            <a:pPr algn="ctr"/>
            <a:r>
              <a:rPr sz="6000" b="1" i="0">
                <a:solidFill>
                  <a:srgbClr val="0284C7"/>
                </a:solidFill>
                <a:latin typeface="Calibri"/>
              </a:rPr>
              <a:t>BanjirKawan</a:t>
            </a:r>
          </a:p>
        </p:txBody>
      </p:sp>
      <p:sp>
        <p:nvSpPr>
          <p:cNvPr id="4" name="TextBox 3"/>
          <p:cNvSpPr txBox="1"/>
          <p:nvPr/>
        </p:nvSpPr>
        <p:spPr>
          <a:xfrm>
            <a:off x="1371600" y="3611880"/>
            <a:ext cx="9445752" cy="822960"/>
          </a:xfrm>
          <a:prstGeom prst="rect">
            <a:avLst/>
          </a:prstGeom>
          <a:noFill/>
        </p:spPr>
        <p:txBody>
          <a:bodyPr wrap="square" anchor="t">
            <a:spAutoFit/>
          </a:bodyPr>
          <a:lstStyle/>
          <a:p>
            <a:pPr algn="ctr"/>
            <a:r>
              <a:rPr sz="2200" b="0" i="1">
                <a:solidFill>
                  <a:srgbClr val="475569"/>
                </a:solidFill>
                <a:latin typeface="Calibri"/>
              </a:rPr>
              <a:t>Turning flood warnings into shop-level survival plans — and survival plans into claim evidence.</a:t>
            </a:r>
          </a:p>
        </p:txBody>
      </p:sp>
      <p:sp>
        <p:nvSpPr>
          <p:cNvPr id="5" name="TextBox 4"/>
          <p:cNvSpPr txBox="1"/>
          <p:nvPr/>
        </p:nvSpPr>
        <p:spPr>
          <a:xfrm>
            <a:off x="1371600" y="4572000"/>
            <a:ext cx="9445752" cy="457200"/>
          </a:xfrm>
          <a:prstGeom prst="rect">
            <a:avLst/>
          </a:prstGeom>
          <a:noFill/>
        </p:spPr>
        <p:txBody>
          <a:bodyPr wrap="square" anchor="t">
            <a:spAutoFit/>
          </a:bodyPr>
          <a:lstStyle/>
          <a:p>
            <a:pPr algn="ctr"/>
            <a:r>
              <a:rPr sz="1500" b="0" i="0">
                <a:solidFill>
                  <a:srgbClr val="475569"/>
                </a:solidFill>
                <a:latin typeface="Calibri"/>
              </a:rPr>
              <a:t>Problem 1  ·  Team of 3 — [Name], [Name],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The warning existed. It never reached her shop floor.</a:t>
            </a:r>
          </a:p>
        </p:txBody>
      </p:sp>
      <p:sp>
        <p:nvSpPr>
          <p:cNvPr id="4" name="Rounded Rectangle 3"/>
          <p:cNvSpPr/>
          <p:nvPr/>
        </p:nvSpPr>
        <p:spPr>
          <a:xfrm>
            <a:off x="548640" y="1554480"/>
            <a:ext cx="5120640" cy="402336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4389120" cy="457200"/>
          </a:xfrm>
          <a:prstGeom prst="rect">
            <a:avLst/>
          </a:prstGeom>
          <a:noFill/>
        </p:spPr>
        <p:txBody>
          <a:bodyPr wrap="square" anchor="t">
            <a:spAutoFit/>
          </a:bodyPr>
          <a:lstStyle/>
          <a:p>
            <a:pPr algn="l"/>
            <a:r>
              <a:rPr sz="2600" b="1" i="0">
                <a:solidFill>
                  <a:srgbClr val="0F172A"/>
                </a:solidFill>
                <a:latin typeface="Calibri"/>
              </a:rPr>
              <a:t>Kak Ros</a:t>
            </a:r>
          </a:p>
        </p:txBody>
      </p:sp>
      <p:sp>
        <p:nvSpPr>
          <p:cNvPr id="6" name="TextBox 5"/>
          <p:cNvSpPr txBox="1"/>
          <p:nvPr/>
        </p:nvSpPr>
        <p:spPr>
          <a:xfrm>
            <a:off x="914400" y="2468880"/>
            <a:ext cx="4389120" cy="365760"/>
          </a:xfrm>
          <a:prstGeom prst="rect">
            <a:avLst/>
          </a:prstGeom>
          <a:noFill/>
        </p:spPr>
        <p:txBody>
          <a:bodyPr wrap="square" anchor="t">
            <a:spAutoFit/>
          </a:bodyPr>
          <a:lstStyle/>
          <a:p>
            <a:pPr algn="l"/>
            <a:r>
              <a:rPr sz="1800" b="0" i="0">
                <a:solidFill>
                  <a:srgbClr val="475569"/>
                </a:solidFill>
                <a:latin typeface="Calibri"/>
              </a:rPr>
              <a:t>kedai runcit · Taman Sri Muda</a:t>
            </a:r>
          </a:p>
        </p:txBody>
      </p:sp>
      <p:sp>
        <p:nvSpPr>
          <p:cNvPr id="7" name="TextBox 6"/>
          <p:cNvSpPr txBox="1"/>
          <p:nvPr/>
        </p:nvSpPr>
        <p:spPr>
          <a:xfrm>
            <a:off x="914400" y="3200400"/>
            <a:ext cx="4389120" cy="1005840"/>
          </a:xfrm>
          <a:prstGeom prst="rect">
            <a:avLst/>
          </a:prstGeom>
          <a:noFill/>
        </p:spPr>
        <p:txBody>
          <a:bodyPr wrap="square" anchor="t">
            <a:spAutoFit/>
          </a:bodyPr>
          <a:lstStyle/>
          <a:p>
            <a:pPr algn="ctr"/>
            <a:r>
              <a:rPr sz="5400" b="1" i="0">
                <a:solidFill>
                  <a:srgbClr val="DC2626"/>
                </a:solidFill>
                <a:latin typeface="Calibri"/>
              </a:rPr>
              <a:t>−RM 40,000</a:t>
            </a:r>
          </a:p>
        </p:txBody>
      </p:sp>
      <p:sp>
        <p:nvSpPr>
          <p:cNvPr id="8" name="TextBox 7"/>
          <p:cNvSpPr txBox="1"/>
          <p:nvPr/>
        </p:nvSpPr>
        <p:spPr>
          <a:xfrm>
            <a:off x="914400" y="4343400"/>
            <a:ext cx="4389120" cy="365760"/>
          </a:xfrm>
          <a:prstGeom prst="rect">
            <a:avLst/>
          </a:prstGeom>
          <a:noFill/>
        </p:spPr>
        <p:txBody>
          <a:bodyPr wrap="square" anchor="t">
            <a:spAutoFit/>
          </a:bodyPr>
          <a:lstStyle/>
          <a:p>
            <a:pPr algn="ctr"/>
            <a:r>
              <a:rPr sz="1600" b="0" i="0">
                <a:solidFill>
                  <a:srgbClr val="475569"/>
                </a:solidFill>
                <a:latin typeface="Calibri"/>
              </a:rPr>
              <a:t>December 2021</a:t>
            </a:r>
          </a:p>
        </p:txBody>
      </p:sp>
      <p:sp>
        <p:nvSpPr>
          <p:cNvPr id="9" name="TextBox 8"/>
          <p:cNvSpPr txBox="1"/>
          <p:nvPr/>
        </p:nvSpPr>
        <p:spPr>
          <a:xfrm>
            <a:off x="6126480" y="1783080"/>
            <a:ext cx="5394960" cy="640080"/>
          </a:xfrm>
          <a:prstGeom prst="rect">
            <a:avLst/>
          </a:prstGeom>
          <a:noFill/>
        </p:spPr>
        <p:txBody>
          <a:bodyPr wrap="square" anchor="t">
            <a:spAutoFit/>
          </a:bodyPr>
          <a:lstStyle/>
          <a:p>
            <a:pPr algn="l"/>
            <a:r>
              <a:rPr sz="2400" b="0" i="0">
                <a:solidFill>
                  <a:srgbClr val="0F172A"/>
                </a:solidFill>
                <a:latin typeface="Calibri"/>
              </a:rPr>
              <a:t>1   The warning was published.</a:t>
            </a:r>
          </a:p>
        </p:txBody>
      </p:sp>
      <p:sp>
        <p:nvSpPr>
          <p:cNvPr id="10" name="TextBox 9"/>
          <p:cNvSpPr txBox="1"/>
          <p:nvPr/>
        </p:nvSpPr>
        <p:spPr>
          <a:xfrm>
            <a:off x="6126480" y="2697480"/>
            <a:ext cx="5394960" cy="640080"/>
          </a:xfrm>
          <a:prstGeom prst="rect">
            <a:avLst/>
          </a:prstGeom>
          <a:noFill/>
        </p:spPr>
        <p:txBody>
          <a:bodyPr wrap="square" anchor="t">
            <a:spAutoFit/>
          </a:bodyPr>
          <a:lstStyle/>
          <a:p>
            <a:pPr algn="l"/>
            <a:r>
              <a:rPr sz="2400" b="0" i="0">
                <a:solidFill>
                  <a:srgbClr val="0F172A"/>
                </a:solidFill>
                <a:latin typeface="Calibri"/>
              </a:rPr>
              <a:t>2   It reached an agency dashboard.</a:t>
            </a:r>
          </a:p>
        </p:txBody>
      </p:sp>
      <p:sp>
        <p:nvSpPr>
          <p:cNvPr id="11" name="TextBox 10"/>
          <p:cNvSpPr txBox="1"/>
          <p:nvPr/>
        </p:nvSpPr>
        <p:spPr>
          <a:xfrm>
            <a:off x="6126480" y="3611880"/>
            <a:ext cx="5394960" cy="640080"/>
          </a:xfrm>
          <a:prstGeom prst="rect">
            <a:avLst/>
          </a:prstGeom>
          <a:noFill/>
        </p:spPr>
        <p:txBody>
          <a:bodyPr wrap="square" anchor="t">
            <a:spAutoFit/>
          </a:bodyPr>
          <a:lstStyle/>
          <a:p>
            <a:pPr algn="l"/>
            <a:r>
              <a:rPr sz="2400" b="1" i="0">
                <a:solidFill>
                  <a:srgbClr val="DC2626"/>
                </a:solidFill>
                <a:latin typeface="Calibri"/>
              </a:rPr>
              <a:t>3   It never reached her shop floor.</a:t>
            </a:r>
          </a:p>
        </p:txBody>
      </p:sp>
      <p:sp>
        <p:nvSpPr>
          <p:cNvPr id="12" name="Rectangle 11"/>
          <p:cNvSpPr/>
          <p:nvPr/>
        </p:nvSpPr>
        <p:spPr>
          <a:xfrm>
            <a:off x="548640" y="5852160"/>
            <a:ext cx="11091672" cy="4572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i="1">
                <a:solidFill>
                  <a:srgbClr val="FFFFFF"/>
                </a:solidFill>
                <a:latin typeface="Calibri"/>
              </a:rPr>
              <a:t>“A warning only helps if people can act.”</a:t>
            </a:r>
          </a:p>
        </p:txBody>
      </p:sp>
      <p:sp>
        <p:nvSpPr>
          <p:cNvPr id="13" name="TextBox 12"/>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One broken link — the last metre</a:t>
            </a:r>
          </a:p>
        </p:txBody>
      </p:sp>
      <p:sp>
        <p:nvSpPr>
          <p:cNvPr id="4" name="Rounded Rectangle 3"/>
          <p:cNvSpPr/>
          <p:nvPr/>
        </p:nvSpPr>
        <p:spPr>
          <a:xfrm>
            <a:off x="548640" y="2011680"/>
            <a:ext cx="1097280" cy="73152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Calibri"/>
              </a:rPr>
              <a:t>Rain</a:t>
            </a:r>
          </a:p>
        </p:txBody>
      </p:sp>
      <p:sp>
        <p:nvSpPr>
          <p:cNvPr id="5" name="Rounded Rectangle 4"/>
          <p:cNvSpPr/>
          <p:nvPr/>
        </p:nvSpPr>
        <p:spPr>
          <a:xfrm>
            <a:off x="1828800" y="2011680"/>
            <a:ext cx="1188720" cy="73152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Calibri"/>
              </a:rPr>
              <a:t>Rivers</a:t>
            </a:r>
          </a:p>
        </p:txBody>
      </p:sp>
      <p:sp>
        <p:nvSpPr>
          <p:cNvPr id="6" name="Rounded Rectangle 5"/>
          <p:cNvSpPr/>
          <p:nvPr/>
        </p:nvSpPr>
        <p:spPr>
          <a:xfrm>
            <a:off x="3200400" y="2011680"/>
            <a:ext cx="2377440" cy="73152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JPS telemetry</a:t>
            </a:r>
          </a:p>
          <a:p>
            <a:pPr algn="ctr"/>
            <a:r>
              <a:rPr sz="1400" b="1" i="0">
                <a:solidFill>
                  <a:srgbClr val="FFFFFF"/>
                </a:solidFill>
                <a:latin typeface="Calibri"/>
              </a:rPr>
              <a:t>~200 stations · thresholds</a:t>
            </a:r>
          </a:p>
        </p:txBody>
      </p:sp>
      <p:sp>
        <p:nvSpPr>
          <p:cNvPr id="7" name="Rounded Rectangle 6"/>
          <p:cNvSpPr/>
          <p:nvPr/>
        </p:nvSpPr>
        <p:spPr>
          <a:xfrm>
            <a:off x="5760720" y="2011680"/>
            <a:ext cx="1828800" cy="73152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Agency dashboard</a:t>
            </a:r>
          </a:p>
        </p:txBody>
      </p:sp>
      <p:cxnSp>
        <p:nvCxnSpPr>
          <p:cNvPr id="8" name="Connector 7"/>
          <p:cNvCxnSpPr/>
          <p:nvPr/>
        </p:nvCxnSpPr>
        <p:spPr>
          <a:xfrm>
            <a:off x="1645920" y="2377440"/>
            <a:ext cx="182880" cy="0"/>
          </a:xfrm>
          <a:prstGeom prst="bentConnector3">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017520" y="2377440"/>
            <a:ext cx="182880" cy="0"/>
          </a:xfrm>
          <a:prstGeom prst="bentConnector3">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577840" y="2377440"/>
            <a:ext cx="182880" cy="0"/>
          </a:xfrm>
          <a:prstGeom prst="bentConnector3">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79" y="1371600"/>
            <a:ext cx="2194560" cy="457200"/>
          </a:xfrm>
          <a:prstGeom prst="rect">
            <a:avLst/>
          </a:prstGeom>
          <a:noFill/>
        </p:spPr>
        <p:txBody>
          <a:bodyPr wrap="square" anchor="t">
            <a:spAutoFit/>
          </a:bodyPr>
          <a:lstStyle/>
          <a:p>
            <a:pPr algn="ctr"/>
            <a:r>
              <a:rPr sz="1500" b="1" i="0">
                <a:solidFill>
                  <a:srgbClr val="DC2626"/>
                </a:solidFill>
                <a:latin typeface="Calibri"/>
              </a:rPr>
              <a:t>THE LAST METRE</a:t>
            </a:r>
          </a:p>
        </p:txBody>
      </p:sp>
      <p:cxnSp>
        <p:nvCxnSpPr>
          <p:cNvPr id="12" name="Connector 11"/>
          <p:cNvCxnSpPr/>
          <p:nvPr/>
        </p:nvCxnSpPr>
        <p:spPr>
          <a:xfrm>
            <a:off x="7635240" y="2377440"/>
            <a:ext cx="731520" cy="0"/>
          </a:xfrm>
          <a:prstGeom prst="bentConnector3">
            <a:avLst/>
          </a:prstGeom>
          <a:ln w="44450">
            <a:solidFill>
              <a:srgbClr val="DC2626"/>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452360" y="1783080"/>
            <a:ext cx="2286000" cy="1234440"/>
          </a:xfrm>
          <a:prstGeom prst="ellipse">
            <a:avLst/>
          </a:prstGeom>
          <a:noFill/>
          <a:ln w="317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966960" y="1828800"/>
            <a:ext cx="1828800" cy="640080"/>
          </a:xfrm>
          <a:prstGeom prst="roundRect">
            <a:avLst>
              <a:gd name="adj" fmla="val 6000"/>
            </a:avLst>
          </a:prstGeom>
          <a:solidFill>
            <a:srgbClr val="E2E8F0"/>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i="0">
                <a:solidFill>
                  <a:srgbClr val="0F172A"/>
                </a:solidFill>
                <a:latin typeface="Calibri"/>
              </a:rPr>
              <a:t>Shop floor</a:t>
            </a:r>
          </a:p>
        </p:txBody>
      </p:sp>
      <p:sp>
        <p:nvSpPr>
          <p:cNvPr id="15" name="Rounded Rectangle 14"/>
          <p:cNvSpPr/>
          <p:nvPr/>
        </p:nvSpPr>
        <p:spPr>
          <a:xfrm>
            <a:off x="9966960" y="2651760"/>
            <a:ext cx="1828800" cy="640080"/>
          </a:xfrm>
          <a:prstGeom prst="roundRect">
            <a:avLst>
              <a:gd name="adj" fmla="val 6000"/>
            </a:avLst>
          </a:prstGeom>
          <a:solidFill>
            <a:srgbClr val="E2E8F0"/>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i="0">
                <a:solidFill>
                  <a:srgbClr val="0F172A"/>
                </a:solidFill>
                <a:latin typeface="Calibri"/>
              </a:rPr>
              <a:t>Owner action</a:t>
            </a:r>
          </a:p>
        </p:txBody>
      </p:sp>
      <p:cxnSp>
        <p:nvCxnSpPr>
          <p:cNvPr id="16" name="Connector 15"/>
          <p:cNvCxnSpPr/>
          <p:nvPr/>
        </p:nvCxnSpPr>
        <p:spPr>
          <a:xfrm>
            <a:off x="10881360" y="2468879"/>
            <a:ext cx="0" cy="182881"/>
          </a:xfrm>
          <a:prstGeom prst="bentConnector3">
            <a:avLst/>
          </a:prstGeom>
          <a:ln w="2222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966960" y="3474720"/>
            <a:ext cx="1828800" cy="640080"/>
          </a:xfrm>
          <a:prstGeom prst="roundRect">
            <a:avLst>
              <a:gd name="adj" fmla="val 6000"/>
            </a:avLst>
          </a:prstGeom>
          <a:solidFill>
            <a:srgbClr val="E2E8F0"/>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i="0">
                <a:solidFill>
                  <a:srgbClr val="0F172A"/>
                </a:solidFill>
                <a:latin typeface="Calibri"/>
              </a:rPr>
              <a:t>Damage / Claim</a:t>
            </a:r>
          </a:p>
        </p:txBody>
      </p:sp>
      <p:cxnSp>
        <p:nvCxnSpPr>
          <p:cNvPr id="18" name="Connector 17"/>
          <p:cNvCxnSpPr/>
          <p:nvPr/>
        </p:nvCxnSpPr>
        <p:spPr>
          <a:xfrm>
            <a:off x="10881360" y="3291839"/>
            <a:ext cx="0" cy="182881"/>
          </a:xfrm>
          <a:prstGeom prst="bentConnector3">
            <a:avLst/>
          </a:prstGeom>
          <a:ln w="2222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66960" y="4297680"/>
            <a:ext cx="1828800" cy="640080"/>
          </a:xfrm>
          <a:prstGeom prst="roundRect">
            <a:avLst>
              <a:gd name="adj" fmla="val 6000"/>
            </a:avLst>
          </a:prstGeom>
          <a:solidFill>
            <a:srgbClr val="E2E8F0"/>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i="0">
                <a:solidFill>
                  <a:srgbClr val="0F172A"/>
                </a:solidFill>
                <a:latin typeface="Calibri"/>
              </a:rPr>
              <a:t>Loan / Recovery</a:t>
            </a:r>
          </a:p>
        </p:txBody>
      </p:sp>
      <p:cxnSp>
        <p:nvCxnSpPr>
          <p:cNvPr id="20" name="Connector 19"/>
          <p:cNvCxnSpPr/>
          <p:nvPr/>
        </p:nvCxnSpPr>
        <p:spPr>
          <a:xfrm>
            <a:off x="10881360" y="4114800"/>
            <a:ext cx="0" cy="182880"/>
          </a:xfrm>
          <a:prstGeom prst="bentConnector3">
            <a:avLst/>
          </a:prstGeom>
          <a:ln w="2222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35040" y="5349240"/>
            <a:ext cx="5669280" cy="640080"/>
          </a:xfrm>
          <a:prstGeom prst="rect">
            <a:avLst/>
          </a:prstGeom>
          <a:noFill/>
        </p:spPr>
        <p:txBody>
          <a:bodyPr wrap="square" anchor="t">
            <a:spAutoFit/>
          </a:bodyPr>
          <a:lstStyle/>
          <a:p>
            <a:pPr algn="ctr"/>
            <a:r>
              <a:rPr sz="1800" b="1" i="0">
                <a:solidFill>
                  <a:srgbClr val="0284C7"/>
                </a:solidFill>
                <a:latin typeface="Calibri"/>
              </a:rPr>
              <a:t>Highest leverage · Lowest cost · Our intervention point</a:t>
            </a:r>
          </a:p>
        </p:txBody>
      </p:sp>
      <p:sp>
        <p:nvSpPr>
          <p:cNvPr id="22" name="TextBox 21"/>
          <p:cNvSpPr txBox="1"/>
          <p:nvPr/>
        </p:nvSpPr>
        <p:spPr>
          <a:xfrm>
            <a:off x="548640" y="3657600"/>
            <a:ext cx="3108960" cy="320040"/>
          </a:xfrm>
          <a:prstGeom prst="rect">
            <a:avLst/>
          </a:prstGeom>
          <a:noFill/>
        </p:spPr>
        <p:txBody>
          <a:bodyPr wrap="square" anchor="t">
            <a:spAutoFit/>
          </a:bodyPr>
          <a:lstStyle/>
          <a:p>
            <a:pPr algn="l"/>
            <a:r>
              <a:rPr sz="1200" b="0" i="0">
                <a:solidFill>
                  <a:srgbClr val="475569"/>
                </a:solidFill>
                <a:latin typeface="Calibri"/>
              </a:rPr>
              <a:t>Iceberg</a:t>
            </a:r>
          </a:p>
        </p:txBody>
      </p:sp>
      <p:sp>
        <p:nvSpPr>
          <p:cNvPr id="23" name="Rounded Rectangle 22"/>
          <p:cNvSpPr/>
          <p:nvPr/>
        </p:nvSpPr>
        <p:spPr>
          <a:xfrm>
            <a:off x="548640" y="4023360"/>
            <a:ext cx="3108960" cy="36576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i="0">
                <a:solidFill>
                  <a:srgbClr val="FFFFFF"/>
                </a:solidFill>
                <a:latin typeface="Calibri"/>
              </a:rPr>
              <a:t>Event</a:t>
            </a:r>
          </a:p>
        </p:txBody>
      </p:sp>
      <p:sp>
        <p:nvSpPr>
          <p:cNvPr id="24" name="Rounded Rectangle 23"/>
          <p:cNvSpPr/>
          <p:nvPr/>
        </p:nvSpPr>
        <p:spPr>
          <a:xfrm>
            <a:off x="548640" y="4443984"/>
            <a:ext cx="3108960" cy="365760"/>
          </a:xfrm>
          <a:prstGeom prst="roundRect">
            <a:avLst>
              <a:gd name="adj" fmla="val 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i="0">
                <a:solidFill>
                  <a:srgbClr val="FFFFFF"/>
                </a:solidFill>
                <a:latin typeface="Calibri"/>
              </a:rPr>
              <a:t>Pattern</a:t>
            </a:r>
          </a:p>
        </p:txBody>
      </p:sp>
      <p:sp>
        <p:nvSpPr>
          <p:cNvPr id="25" name="Rounded Rectangle 24"/>
          <p:cNvSpPr/>
          <p:nvPr/>
        </p:nvSpPr>
        <p:spPr>
          <a:xfrm>
            <a:off x="548640" y="4864608"/>
            <a:ext cx="3108960" cy="365760"/>
          </a:xfrm>
          <a:prstGeom prst="roundRect">
            <a:avLst>
              <a:gd name="adj" fmla="val 6000"/>
            </a:avLst>
          </a:prstGeom>
          <a:solidFill>
            <a:srgbClr val="0369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i="0">
                <a:solidFill>
                  <a:srgbClr val="FFFFFF"/>
                </a:solidFill>
                <a:latin typeface="Calibri"/>
              </a:rPr>
              <a:t>Structure</a:t>
            </a:r>
          </a:p>
        </p:txBody>
      </p:sp>
      <p:sp>
        <p:nvSpPr>
          <p:cNvPr id="26" name="Rounded Rectangle 25"/>
          <p:cNvSpPr/>
          <p:nvPr/>
        </p:nvSpPr>
        <p:spPr>
          <a:xfrm>
            <a:off x="548640" y="5285232"/>
            <a:ext cx="3108960" cy="365760"/>
          </a:xfrm>
          <a:prstGeom prst="roundRect">
            <a:avLst>
              <a:gd name="adj" fmla="val 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i="0">
                <a:solidFill>
                  <a:srgbClr val="FFFFFF"/>
                </a:solidFill>
                <a:latin typeface="Calibri"/>
              </a:rPr>
              <a:t>Mental model</a:t>
            </a:r>
          </a:p>
        </p:txBody>
      </p:sp>
      <p:sp>
        <p:nvSpPr>
          <p:cNvPr id="27" name="TextBox 26"/>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A flood isn't water — it's money</a:t>
            </a:r>
          </a:p>
        </p:txBody>
      </p:sp>
      <p:sp>
        <p:nvSpPr>
          <p:cNvPr id="4" name="Rounded Rectangle 3"/>
          <p:cNvSpPr/>
          <p:nvPr/>
        </p:nvSpPr>
        <p:spPr>
          <a:xfrm>
            <a:off x="548640" y="1645920"/>
            <a:ext cx="2377440" cy="640080"/>
          </a:xfrm>
          <a:prstGeom prst="roundRect">
            <a:avLst>
              <a:gd name="adj" fmla="val 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Weather event</a:t>
            </a:r>
          </a:p>
        </p:txBody>
      </p:sp>
      <p:sp>
        <p:nvSpPr>
          <p:cNvPr id="5" name="Rounded Rectangle 4"/>
          <p:cNvSpPr/>
          <p:nvPr/>
        </p:nvSpPr>
        <p:spPr>
          <a:xfrm>
            <a:off x="3200400" y="1645920"/>
            <a:ext cx="2194560" cy="640080"/>
          </a:xfrm>
          <a:prstGeom prst="roundRect">
            <a:avLst>
              <a:gd name="adj" fmla="val 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What's hit</a:t>
            </a:r>
          </a:p>
        </p:txBody>
      </p:sp>
      <p:sp>
        <p:nvSpPr>
          <p:cNvPr id="6" name="Rounded Rectangle 5"/>
          <p:cNvSpPr/>
          <p:nvPr/>
        </p:nvSpPr>
        <p:spPr>
          <a:xfrm>
            <a:off x="5669280" y="1645920"/>
            <a:ext cx="1828800" cy="640080"/>
          </a:xfrm>
          <a:prstGeom prst="roundRect">
            <a:avLst>
              <a:gd name="adj" fmla="val 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Effect</a:t>
            </a:r>
          </a:p>
        </p:txBody>
      </p:sp>
      <p:sp>
        <p:nvSpPr>
          <p:cNvPr id="7" name="Rounded Rectangle 6"/>
          <p:cNvSpPr/>
          <p:nvPr/>
        </p:nvSpPr>
        <p:spPr>
          <a:xfrm>
            <a:off x="7772400" y="1645920"/>
            <a:ext cx="1828800" cy="640080"/>
          </a:xfrm>
          <a:prstGeom prst="roundRect">
            <a:avLst>
              <a:gd name="adj" fmla="val 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Cost</a:t>
            </a:r>
          </a:p>
        </p:txBody>
      </p:sp>
      <p:cxnSp>
        <p:nvCxnSpPr>
          <p:cNvPr id="8" name="Connector 7"/>
          <p:cNvCxnSpPr/>
          <p:nvPr/>
        </p:nvCxnSpPr>
        <p:spPr>
          <a:xfrm>
            <a:off x="3017520" y="1965960"/>
            <a:ext cx="164592" cy="0"/>
          </a:xfrm>
          <a:prstGeom prst="bentConnector3">
            <a:avLst/>
          </a:prstGeom>
          <a:ln w="25400">
            <a:solidFill>
              <a:srgbClr val="0284C7"/>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440680" y="1965960"/>
            <a:ext cx="164592" cy="0"/>
          </a:xfrm>
          <a:prstGeom prst="bentConnector3">
            <a:avLst/>
          </a:prstGeom>
          <a:ln w="25400">
            <a:solidFill>
              <a:srgbClr val="0284C7"/>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89520" y="1965960"/>
            <a:ext cx="164592" cy="0"/>
          </a:xfrm>
          <a:prstGeom prst="bentConnector3">
            <a:avLst/>
          </a:prstGeom>
          <a:ln w="25400">
            <a:solidFill>
              <a:srgbClr val="0284C7"/>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2743200"/>
            <a:ext cx="2606040"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2331720" cy="548640"/>
          </a:xfrm>
          <a:prstGeom prst="rect">
            <a:avLst/>
          </a:prstGeom>
          <a:noFill/>
        </p:spPr>
        <p:txBody>
          <a:bodyPr wrap="square" anchor="t">
            <a:spAutoFit/>
          </a:bodyPr>
          <a:lstStyle/>
          <a:p>
            <a:pPr algn="ctr"/>
            <a:r>
              <a:rPr sz="1800" b="1" i="0">
                <a:solidFill>
                  <a:srgbClr val="0F172A"/>
                </a:solidFill>
                <a:latin typeface="Calibri"/>
              </a:rPr>
              <a:t>Damaged goods</a:t>
            </a:r>
          </a:p>
        </p:txBody>
      </p:sp>
      <p:sp>
        <p:nvSpPr>
          <p:cNvPr id="13" name="Rounded Rectangle 12"/>
          <p:cNvSpPr/>
          <p:nvPr/>
        </p:nvSpPr>
        <p:spPr>
          <a:xfrm>
            <a:off x="3250692" y="2743200"/>
            <a:ext cx="2606040"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7852" y="2971800"/>
            <a:ext cx="2331720" cy="548640"/>
          </a:xfrm>
          <a:prstGeom prst="rect">
            <a:avLst/>
          </a:prstGeom>
          <a:noFill/>
        </p:spPr>
        <p:txBody>
          <a:bodyPr wrap="square" anchor="t">
            <a:spAutoFit/>
          </a:bodyPr>
          <a:lstStyle/>
          <a:p>
            <a:pPr algn="ctr"/>
            <a:r>
              <a:rPr sz="1800" b="1" i="0">
                <a:solidFill>
                  <a:srgbClr val="0F172A"/>
                </a:solidFill>
                <a:latin typeface="Calibri"/>
              </a:rPr>
              <a:t>Lost sales</a:t>
            </a:r>
          </a:p>
        </p:txBody>
      </p:sp>
      <p:sp>
        <p:nvSpPr>
          <p:cNvPr id="15" name="TextBox 14"/>
          <p:cNvSpPr txBox="1"/>
          <p:nvPr/>
        </p:nvSpPr>
        <p:spPr>
          <a:xfrm>
            <a:off x="3387852" y="3520440"/>
            <a:ext cx="2331720" cy="457200"/>
          </a:xfrm>
          <a:prstGeom prst="rect">
            <a:avLst/>
          </a:prstGeom>
          <a:noFill/>
        </p:spPr>
        <p:txBody>
          <a:bodyPr wrap="square" anchor="t">
            <a:spAutoFit/>
          </a:bodyPr>
          <a:lstStyle/>
          <a:p>
            <a:pPr algn="ctr"/>
            <a:r>
              <a:rPr sz="1400" b="0" i="0">
                <a:solidFill>
                  <a:srgbClr val="475569"/>
                </a:solidFill>
                <a:latin typeface="Calibri"/>
              </a:rPr>
              <a:t>days shut</a:t>
            </a:r>
          </a:p>
        </p:txBody>
      </p:sp>
      <p:sp>
        <p:nvSpPr>
          <p:cNvPr id="16" name="Rounded Rectangle 15"/>
          <p:cNvSpPr/>
          <p:nvPr/>
        </p:nvSpPr>
        <p:spPr>
          <a:xfrm>
            <a:off x="5952744" y="2743200"/>
            <a:ext cx="2606040"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9904" y="2971800"/>
            <a:ext cx="2331720" cy="548640"/>
          </a:xfrm>
          <a:prstGeom prst="rect">
            <a:avLst/>
          </a:prstGeom>
          <a:noFill/>
        </p:spPr>
        <p:txBody>
          <a:bodyPr wrap="square" anchor="t">
            <a:spAutoFit/>
          </a:bodyPr>
          <a:lstStyle/>
          <a:p>
            <a:pPr algn="ctr"/>
            <a:r>
              <a:rPr sz="1800" b="1" i="0">
                <a:solidFill>
                  <a:srgbClr val="0F172A"/>
                </a:solidFill>
                <a:latin typeface="Calibri"/>
              </a:rPr>
              <a:t>Cleanup costs</a:t>
            </a:r>
          </a:p>
        </p:txBody>
      </p:sp>
      <p:sp>
        <p:nvSpPr>
          <p:cNvPr id="18" name="Rounded Rectangle 17"/>
          <p:cNvSpPr/>
          <p:nvPr/>
        </p:nvSpPr>
        <p:spPr>
          <a:xfrm>
            <a:off x="8654796" y="2743200"/>
            <a:ext cx="2606040"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91956" y="2971800"/>
            <a:ext cx="2331720" cy="548640"/>
          </a:xfrm>
          <a:prstGeom prst="rect">
            <a:avLst/>
          </a:prstGeom>
          <a:noFill/>
        </p:spPr>
        <p:txBody>
          <a:bodyPr wrap="square" anchor="t">
            <a:spAutoFit/>
          </a:bodyPr>
          <a:lstStyle/>
          <a:p>
            <a:pPr algn="ctr"/>
            <a:r>
              <a:rPr sz="1800" b="1" i="0">
                <a:solidFill>
                  <a:srgbClr val="0F172A"/>
                </a:solidFill>
                <a:latin typeface="Calibri"/>
              </a:rPr>
              <a:t>Costlier loan</a:t>
            </a:r>
          </a:p>
        </p:txBody>
      </p:sp>
      <p:sp>
        <p:nvSpPr>
          <p:cNvPr id="20" name="TextBox 19"/>
          <p:cNvSpPr txBox="1"/>
          <p:nvPr/>
        </p:nvSpPr>
        <p:spPr>
          <a:xfrm>
            <a:off x="8791956" y="3520440"/>
            <a:ext cx="2331720" cy="457200"/>
          </a:xfrm>
          <a:prstGeom prst="rect">
            <a:avLst/>
          </a:prstGeom>
          <a:noFill/>
        </p:spPr>
        <p:txBody>
          <a:bodyPr wrap="square" anchor="t">
            <a:spAutoFit/>
          </a:bodyPr>
          <a:lstStyle/>
          <a:p>
            <a:pPr algn="ctr"/>
            <a:r>
              <a:rPr sz="1400" b="0" i="0">
                <a:solidFill>
                  <a:srgbClr val="DC2626"/>
                </a:solidFill>
                <a:latin typeface="Calibri"/>
              </a:rPr>
              <a:t>no evidence → claim denied</a:t>
            </a:r>
          </a:p>
        </p:txBody>
      </p:sp>
      <p:sp>
        <p:nvSpPr>
          <p:cNvPr id="21" name="TextBox 20"/>
          <p:cNvSpPr txBox="1"/>
          <p:nvPr/>
        </p:nvSpPr>
        <p:spPr>
          <a:xfrm>
            <a:off x="548640" y="4434840"/>
            <a:ext cx="11091672" cy="914400"/>
          </a:xfrm>
          <a:prstGeom prst="rect">
            <a:avLst/>
          </a:prstGeom>
          <a:noFill/>
        </p:spPr>
        <p:txBody>
          <a:bodyPr wrap="square" anchor="t">
            <a:spAutoFit/>
          </a:bodyPr>
          <a:lstStyle/>
          <a:p>
            <a:pPr algn="ctr"/>
            <a:r>
              <a:rPr sz="5600" b="1" i="0">
                <a:solidFill>
                  <a:srgbClr val="0F172A"/>
                </a:solidFill>
                <a:latin typeface="Calibri"/>
              </a:rPr>
              <a:t>RM 6.1 billion</a:t>
            </a:r>
          </a:p>
        </p:txBody>
      </p:sp>
      <p:sp>
        <p:nvSpPr>
          <p:cNvPr id="22" name="TextBox 21"/>
          <p:cNvSpPr txBox="1"/>
          <p:nvPr/>
        </p:nvSpPr>
        <p:spPr>
          <a:xfrm>
            <a:off x="548640" y="5440680"/>
            <a:ext cx="11091672" cy="365760"/>
          </a:xfrm>
          <a:prstGeom prst="rect">
            <a:avLst/>
          </a:prstGeom>
          <a:noFill/>
        </p:spPr>
        <p:txBody>
          <a:bodyPr wrap="square" anchor="t">
            <a:spAutoFit/>
          </a:bodyPr>
          <a:lstStyle/>
          <a:p>
            <a:pPr algn="ctr"/>
            <a:r>
              <a:rPr sz="1500" b="0" i="0">
                <a:solidFill>
                  <a:srgbClr val="475569"/>
                </a:solidFill>
                <a:latin typeface="Calibri"/>
              </a:rPr>
              <a:t>national flood losses, Dec 2021 — the market we address</a:t>
            </a:r>
          </a:p>
        </p:txBody>
      </p:sp>
      <p:sp>
        <p:nvSpPr>
          <p:cNvPr id="23" name="Rectangle 22"/>
          <p:cNvSpPr/>
          <p:nvPr/>
        </p:nvSpPr>
        <p:spPr>
          <a:xfrm>
            <a:off x="548640" y="5897880"/>
            <a:ext cx="11091672" cy="41148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i="1">
                <a:solidFill>
                  <a:srgbClr val="FFFFFF"/>
                </a:solidFill>
                <a:latin typeface="Calibri"/>
              </a:rPr>
              <a:t>… but each ringgit is also a livelihood, a job, a family's debt — social costs that hit the most vulnerable hardest.</a:t>
            </a:r>
          </a:p>
        </p:txBody>
      </p:sp>
      <p:sp>
        <p:nvSpPr>
          <p:cNvPr id="24" name="TextBox 23"/>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AI is never in the storm path</a:t>
            </a:r>
          </a:p>
        </p:txBody>
      </p:sp>
      <p:sp>
        <p:nvSpPr>
          <p:cNvPr id="4" name="Rounded Rectangle 3"/>
          <p:cNvSpPr/>
          <p:nvPr/>
        </p:nvSpPr>
        <p:spPr>
          <a:xfrm>
            <a:off x="548640" y="1737360"/>
            <a:ext cx="5212080" cy="2926080"/>
          </a:xfrm>
          <a:prstGeom prst="roundRect">
            <a:avLst>
              <a:gd name="adj" fmla="val 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4663440" cy="457200"/>
          </a:xfrm>
          <a:prstGeom prst="rect">
            <a:avLst/>
          </a:prstGeom>
          <a:noFill/>
        </p:spPr>
        <p:txBody>
          <a:bodyPr wrap="square" anchor="t">
            <a:spAutoFit/>
          </a:bodyPr>
          <a:lstStyle/>
          <a:p>
            <a:pPr algn="l"/>
            <a:r>
              <a:rPr sz="2000" b="1" i="0">
                <a:solidFill>
                  <a:srgbClr val="0284C7"/>
                </a:solidFill>
                <a:latin typeface="Calibri"/>
              </a:rPr>
              <a:t>DRY DAY — AI thinks</a:t>
            </a:r>
          </a:p>
        </p:txBody>
      </p:sp>
      <p:sp>
        <p:nvSpPr>
          <p:cNvPr id="6" name="TextBox 5"/>
          <p:cNvSpPr txBox="1"/>
          <p:nvPr/>
        </p:nvSpPr>
        <p:spPr>
          <a:xfrm>
            <a:off x="822960" y="2560320"/>
            <a:ext cx="4663440" cy="1828800"/>
          </a:xfrm>
          <a:prstGeom prst="rect">
            <a:avLst/>
          </a:prstGeom>
          <a:noFill/>
        </p:spPr>
        <p:txBody>
          <a:bodyPr wrap="square" anchor="t">
            <a:spAutoFit/>
          </a:bodyPr>
          <a:lstStyle/>
          <a:p>
            <a:pPr algn="l"/>
            <a:r>
              <a:rPr sz="1800" b="0" i="0">
                <a:solidFill>
                  <a:srgbClr val="0F172A"/>
                </a:solidFill>
                <a:latin typeface="Calibri"/>
              </a:rPr>
              <a:t>5 photos → asset risk map → owner confirms → cached tiered playbooks</a:t>
            </a:r>
          </a:p>
        </p:txBody>
      </p:sp>
      <p:sp>
        <p:nvSpPr>
          <p:cNvPr id="7" name="Rounded Rectangle 6"/>
          <p:cNvSpPr/>
          <p:nvPr/>
        </p:nvSpPr>
        <p:spPr>
          <a:xfrm>
            <a:off x="6428232" y="1737360"/>
            <a:ext cx="5212080" cy="29260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2552" y="1965960"/>
            <a:ext cx="4663440" cy="457200"/>
          </a:xfrm>
          <a:prstGeom prst="rect">
            <a:avLst/>
          </a:prstGeom>
          <a:noFill/>
        </p:spPr>
        <p:txBody>
          <a:bodyPr wrap="square" anchor="t">
            <a:spAutoFit/>
          </a:bodyPr>
          <a:lstStyle/>
          <a:p>
            <a:pPr algn="l"/>
            <a:r>
              <a:rPr sz="2000" b="1" i="0">
                <a:solidFill>
                  <a:srgbClr val="0F172A"/>
                </a:solidFill>
                <a:latin typeface="Calibri"/>
              </a:rPr>
              <a:t>STORM DAY — dumb &amp; deterministic</a:t>
            </a:r>
          </a:p>
        </p:txBody>
      </p:sp>
      <p:sp>
        <p:nvSpPr>
          <p:cNvPr id="9" name="TextBox 8"/>
          <p:cNvSpPr txBox="1"/>
          <p:nvPr/>
        </p:nvSpPr>
        <p:spPr>
          <a:xfrm>
            <a:off x="6702552" y="2560320"/>
            <a:ext cx="4663440" cy="914400"/>
          </a:xfrm>
          <a:prstGeom prst="rect">
            <a:avLst/>
          </a:prstGeom>
          <a:noFill/>
        </p:spPr>
        <p:txBody>
          <a:bodyPr wrap="square" anchor="t">
            <a:spAutoFit/>
          </a:bodyPr>
          <a:lstStyle/>
          <a:p>
            <a:pPr algn="l"/>
            <a:r>
              <a:rPr sz="1800" b="0" i="0">
                <a:solidFill>
                  <a:srgbClr val="0F172A"/>
                </a:solidFill>
                <a:latin typeface="Calibri"/>
              </a:rPr>
              <a:t>threshold → cache lookup → send</a:t>
            </a:r>
          </a:p>
        </p:txBody>
      </p:sp>
      <p:sp>
        <p:nvSpPr>
          <p:cNvPr id="10" name="Rounded Rectangle 9"/>
          <p:cNvSpPr/>
          <p:nvPr/>
        </p:nvSpPr>
        <p:spPr>
          <a:xfrm>
            <a:off x="3108960" y="2971800"/>
            <a:ext cx="5943600" cy="640080"/>
          </a:xfrm>
          <a:prstGeom prst="roundRect">
            <a:avLst>
              <a:gd name="adj" fmla="val 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AI is never in the storm path</a:t>
            </a:r>
          </a:p>
        </p:txBody>
      </p:sp>
      <p:sp>
        <p:nvSpPr>
          <p:cNvPr id="11" name="Rounded Rectangle 10"/>
          <p:cNvSpPr/>
          <p:nvPr/>
        </p:nvSpPr>
        <p:spPr>
          <a:xfrm>
            <a:off x="548640" y="4937760"/>
            <a:ext cx="11091672" cy="9144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0" i="0">
                <a:solidFill>
                  <a:srgbClr val="0F172A"/>
                </a:solidFill>
                <a:latin typeface="Calibri"/>
              </a:rPr>
              <a:t>After the flood: 5 photos → claim report (evidence = river authority telemetry)</a:t>
            </a:r>
          </a:p>
        </p:txBody>
      </p:sp>
      <p:sp>
        <p:nvSpPr>
          <p:cNvPr id="12" name="TextBox 11"/>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Not a concept — deployed, on real data</a:t>
            </a:r>
          </a:p>
        </p:txBody>
      </p:sp>
      <p:sp>
        <p:nvSpPr>
          <p:cNvPr id="4" name="Rounded Rectangle 3"/>
          <p:cNvSpPr/>
          <p:nvPr/>
        </p:nvSpPr>
        <p:spPr>
          <a:xfrm>
            <a:off x="548640" y="1645920"/>
            <a:ext cx="6400800" cy="3931920"/>
          </a:xfrm>
          <a:prstGeom prst="roundRect">
            <a:avLst>
              <a:gd name="adj" fmla="val 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0" i="0">
                <a:solidFill>
                  <a:srgbClr val="FFFFFF"/>
                </a:solidFill>
                <a:latin typeface="Calibri"/>
              </a:rPr>
              <a:t>[ 15–20s recording:</a:t>
            </a:r>
          </a:p>
          <a:p>
            <a:pPr algn="ctr"/>
            <a:r>
              <a:rPr sz="2000" b="0" i="0">
                <a:solidFill>
                  <a:srgbClr val="FFFFFF"/>
                </a:solidFill>
                <a:latin typeface="Calibri"/>
              </a:rPr>
              <a:t>SIMULATE FLOOD → phone buzz → checklist → dashboard tick ]</a:t>
            </a:r>
          </a:p>
        </p:txBody>
      </p:sp>
      <p:sp>
        <p:nvSpPr>
          <p:cNvPr id="5" name="TextBox 4"/>
          <p:cNvSpPr txBox="1"/>
          <p:nvPr/>
        </p:nvSpPr>
        <p:spPr>
          <a:xfrm>
            <a:off x="548640" y="5669280"/>
            <a:ext cx="6400800" cy="365760"/>
          </a:xfrm>
          <a:prstGeom prst="rect">
            <a:avLst/>
          </a:prstGeom>
          <a:noFill/>
        </p:spPr>
        <p:txBody>
          <a:bodyPr wrap="square" anchor="t">
            <a:spAutoFit/>
          </a:bodyPr>
          <a:lstStyle/>
          <a:p>
            <a:pPr algn="l"/>
            <a:r>
              <a:rPr sz="1500" b="0" i="0">
                <a:solidFill>
                  <a:srgbClr val="475569"/>
                </a:solidFill>
                <a:latin typeface="Calibri"/>
              </a:rPr>
              <a:t>301 live river stations · 2 real escalations caught this week</a:t>
            </a:r>
          </a:p>
        </p:txBody>
      </p:sp>
      <p:sp>
        <p:nvSpPr>
          <p:cNvPr id="6" name="Rounded Rectangle 5"/>
          <p:cNvSpPr/>
          <p:nvPr/>
        </p:nvSpPr>
        <p:spPr>
          <a:xfrm>
            <a:off x="7223760" y="1645920"/>
            <a:ext cx="4389120" cy="105156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0F172A"/>
                </a:solidFill>
                <a:latin typeface="Calibri"/>
              </a:rPr>
              <a:t>Live danger map</a:t>
            </a:r>
          </a:p>
        </p:txBody>
      </p:sp>
      <p:sp>
        <p:nvSpPr>
          <p:cNvPr id="7" name="TextBox 6"/>
          <p:cNvSpPr txBox="1"/>
          <p:nvPr/>
        </p:nvSpPr>
        <p:spPr>
          <a:xfrm>
            <a:off x="7223760" y="2578608"/>
            <a:ext cx="4389120" cy="274320"/>
          </a:xfrm>
          <a:prstGeom prst="rect">
            <a:avLst/>
          </a:prstGeom>
          <a:noFill/>
        </p:spPr>
        <p:txBody>
          <a:bodyPr wrap="square" anchor="t">
            <a:spAutoFit/>
          </a:bodyPr>
          <a:lstStyle/>
          <a:p>
            <a:pPr algn="l"/>
            <a:r>
              <a:rPr sz="1200" b="0" i="0">
                <a:solidFill>
                  <a:srgbClr val="475569"/>
                </a:solidFill>
                <a:latin typeface="Calibri"/>
              </a:rPr>
              <a:t>Live danger map</a:t>
            </a:r>
          </a:p>
        </p:txBody>
      </p:sp>
      <p:sp>
        <p:nvSpPr>
          <p:cNvPr id="8" name="Rounded Rectangle 7"/>
          <p:cNvSpPr/>
          <p:nvPr/>
        </p:nvSpPr>
        <p:spPr>
          <a:xfrm>
            <a:off x="7223760" y="2971800"/>
            <a:ext cx="4389120" cy="105156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0F172A"/>
                </a:solidFill>
                <a:latin typeface="Calibri"/>
              </a:rPr>
              <a:t>Claim report — evidence = JPS telemetry</a:t>
            </a:r>
          </a:p>
        </p:txBody>
      </p:sp>
      <p:sp>
        <p:nvSpPr>
          <p:cNvPr id="9" name="TextBox 8"/>
          <p:cNvSpPr txBox="1"/>
          <p:nvPr/>
        </p:nvSpPr>
        <p:spPr>
          <a:xfrm>
            <a:off x="7223760" y="3904487"/>
            <a:ext cx="4389120" cy="274320"/>
          </a:xfrm>
          <a:prstGeom prst="rect">
            <a:avLst/>
          </a:prstGeom>
          <a:noFill/>
        </p:spPr>
        <p:txBody>
          <a:bodyPr wrap="square" anchor="t">
            <a:spAutoFit/>
          </a:bodyPr>
          <a:lstStyle/>
          <a:p>
            <a:pPr algn="l"/>
            <a:r>
              <a:rPr sz="1200" b="0" i="0">
                <a:solidFill>
                  <a:srgbClr val="475569"/>
                </a:solidFill>
                <a:latin typeface="Calibri"/>
              </a:rPr>
              <a:t>Claim report — evidence = JPS telemetry</a:t>
            </a:r>
          </a:p>
        </p:txBody>
      </p:sp>
      <p:sp>
        <p:nvSpPr>
          <p:cNvPr id="10" name="Rounded Rectangle 9"/>
          <p:cNvSpPr/>
          <p:nvPr/>
        </p:nvSpPr>
        <p:spPr>
          <a:xfrm>
            <a:off x="7223760" y="4297680"/>
            <a:ext cx="4389120" cy="105156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0F172A"/>
                </a:solidFill>
                <a:latin typeface="Calibri"/>
              </a:rPr>
              <a:t>Metrics dashboard</a:t>
            </a:r>
          </a:p>
        </p:txBody>
      </p:sp>
      <p:sp>
        <p:nvSpPr>
          <p:cNvPr id="11" name="TextBox 10"/>
          <p:cNvSpPr txBox="1"/>
          <p:nvPr/>
        </p:nvSpPr>
        <p:spPr>
          <a:xfrm>
            <a:off x="7223760" y="5230368"/>
            <a:ext cx="4389120" cy="274320"/>
          </a:xfrm>
          <a:prstGeom prst="rect">
            <a:avLst/>
          </a:prstGeom>
          <a:noFill/>
        </p:spPr>
        <p:txBody>
          <a:bodyPr wrap="square" anchor="t">
            <a:spAutoFit/>
          </a:bodyPr>
          <a:lstStyle/>
          <a:p>
            <a:pPr algn="l"/>
            <a:r>
              <a:rPr sz="1200" b="0" i="0">
                <a:solidFill>
                  <a:srgbClr val="475569"/>
                </a:solidFill>
                <a:latin typeface="Calibri"/>
              </a:rPr>
              <a:t>Metrics dashboard</a:t>
            </a:r>
          </a:p>
        </p:txBody>
      </p:sp>
      <p:sp>
        <p:nvSpPr>
          <p:cNvPr id="12" name="TextBox 11"/>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B2B2C — and the shop is the smallest payer</a:t>
            </a:r>
          </a:p>
        </p:txBody>
      </p:sp>
      <p:sp>
        <p:nvSpPr>
          <p:cNvPr id="4" name="Rounded Rectangle 3"/>
          <p:cNvSpPr/>
          <p:nvPr/>
        </p:nvSpPr>
        <p:spPr>
          <a:xfrm>
            <a:off x="548640" y="1645920"/>
            <a:ext cx="3657600" cy="2743200"/>
          </a:xfrm>
          <a:prstGeom prst="roundRect">
            <a:avLst>
              <a:gd name="adj" fmla="val 6000"/>
            </a:avLst>
          </a:prstGeom>
          <a:solidFill>
            <a:srgbClr val="E0F2FE"/>
          </a:solidFill>
          <a:ln w="317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1097280" cy="320040"/>
          </a:xfrm>
          <a:prstGeom prst="roundRect">
            <a:avLst>
              <a:gd name="adj" fmla="val 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ANCHOR</a:t>
            </a:r>
          </a:p>
        </p:txBody>
      </p:sp>
      <p:sp>
        <p:nvSpPr>
          <p:cNvPr id="6" name="TextBox 5"/>
          <p:cNvSpPr txBox="1"/>
          <p:nvPr/>
        </p:nvSpPr>
        <p:spPr>
          <a:xfrm>
            <a:off x="777240" y="2240280"/>
            <a:ext cx="3200400" cy="457200"/>
          </a:xfrm>
          <a:prstGeom prst="rect">
            <a:avLst/>
          </a:prstGeom>
          <a:noFill/>
        </p:spPr>
        <p:txBody>
          <a:bodyPr wrap="square" anchor="t">
            <a:spAutoFit/>
          </a:bodyPr>
          <a:lstStyle/>
          <a:p>
            <a:pPr algn="l"/>
            <a:r>
              <a:rPr sz="2200" b="1" i="0">
                <a:solidFill>
                  <a:srgbClr val="0284C7"/>
                </a:solidFill>
                <a:latin typeface="Calibri"/>
              </a:rPr>
              <a:t>Insurers / takaful</a:t>
            </a:r>
          </a:p>
        </p:txBody>
      </p:sp>
      <p:sp>
        <p:nvSpPr>
          <p:cNvPr id="7" name="TextBox 6"/>
          <p:cNvSpPr txBox="1"/>
          <p:nvPr/>
        </p:nvSpPr>
        <p:spPr>
          <a:xfrm>
            <a:off x="777240" y="2788920"/>
            <a:ext cx="3200400" cy="1463040"/>
          </a:xfrm>
          <a:prstGeom prst="rect">
            <a:avLst/>
          </a:prstGeom>
          <a:noFill/>
        </p:spPr>
        <p:txBody>
          <a:bodyPr wrap="square" anchor="t">
            <a:spAutoFit/>
          </a:bodyPr>
          <a:lstStyle/>
          <a:p>
            <a:pPr algn="l"/>
            <a:r>
              <a:rPr sz="1500" b="0" i="0">
                <a:solidFill>
                  <a:srgbClr val="0F172A"/>
                </a:solidFill>
                <a:latin typeface="Calibri"/>
              </a:rPr>
              <a:t>Completed checklist = claim avoided. Verified report = claim in minutes, not adjuster-weeks. Priced per policy / per claim avoided.</a:t>
            </a:r>
          </a:p>
        </p:txBody>
      </p:sp>
      <p:sp>
        <p:nvSpPr>
          <p:cNvPr id="8" name="Rounded Rectangle 7"/>
          <p:cNvSpPr/>
          <p:nvPr/>
        </p:nvSpPr>
        <p:spPr>
          <a:xfrm>
            <a:off x="4343400" y="1645920"/>
            <a:ext cx="3566160" cy="27432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920240"/>
            <a:ext cx="3108960" cy="457200"/>
          </a:xfrm>
          <a:prstGeom prst="rect">
            <a:avLst/>
          </a:prstGeom>
          <a:noFill/>
        </p:spPr>
        <p:txBody>
          <a:bodyPr wrap="square" anchor="t">
            <a:spAutoFit/>
          </a:bodyPr>
          <a:lstStyle/>
          <a:p>
            <a:pPr algn="l"/>
            <a:r>
              <a:rPr sz="2000" b="1" i="0">
                <a:solidFill>
                  <a:srgbClr val="0F172A"/>
                </a:solidFill>
                <a:latin typeface="Calibri"/>
              </a:rPr>
              <a:t>State &amp; local councils</a:t>
            </a:r>
          </a:p>
        </p:txBody>
      </p:sp>
      <p:sp>
        <p:nvSpPr>
          <p:cNvPr id="10" name="TextBox 9"/>
          <p:cNvSpPr txBox="1"/>
          <p:nvPr/>
        </p:nvSpPr>
        <p:spPr>
          <a:xfrm>
            <a:off x="4572000" y="2514600"/>
            <a:ext cx="3108960" cy="1371600"/>
          </a:xfrm>
          <a:prstGeom prst="rect">
            <a:avLst/>
          </a:prstGeom>
          <a:noFill/>
        </p:spPr>
        <p:txBody>
          <a:bodyPr wrap="square" anchor="t">
            <a:spAutoFit/>
          </a:bodyPr>
          <a:lstStyle/>
          <a:p>
            <a:pPr algn="l"/>
            <a:r>
              <a:rPr sz="1600" b="0" i="0">
                <a:solidFill>
                  <a:srgbClr val="0F172A"/>
                </a:solidFill>
                <a:latin typeface="Calibri"/>
              </a:rPr>
              <a:t>District-wide SME resilience at software cost.</a:t>
            </a:r>
          </a:p>
        </p:txBody>
      </p:sp>
      <p:sp>
        <p:nvSpPr>
          <p:cNvPr id="11" name="Rounded Rectangle 10"/>
          <p:cNvSpPr/>
          <p:nvPr/>
        </p:nvSpPr>
        <p:spPr>
          <a:xfrm>
            <a:off x="8046720" y="1645920"/>
            <a:ext cx="3593592" cy="27432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920240"/>
            <a:ext cx="3108960" cy="457200"/>
          </a:xfrm>
          <a:prstGeom prst="rect">
            <a:avLst/>
          </a:prstGeom>
          <a:noFill/>
        </p:spPr>
        <p:txBody>
          <a:bodyPr wrap="square" anchor="t">
            <a:spAutoFit/>
          </a:bodyPr>
          <a:lstStyle/>
          <a:p>
            <a:pPr algn="l"/>
            <a:r>
              <a:rPr sz="2000" b="1" i="0">
                <a:solidFill>
                  <a:srgbClr val="0F172A"/>
                </a:solidFill>
                <a:latin typeface="Calibri"/>
              </a:rPr>
              <a:t>Kedai — freemium</a:t>
            </a:r>
          </a:p>
        </p:txBody>
      </p:sp>
      <p:sp>
        <p:nvSpPr>
          <p:cNvPr id="13" name="TextBox 12"/>
          <p:cNvSpPr txBox="1"/>
          <p:nvPr/>
        </p:nvSpPr>
        <p:spPr>
          <a:xfrm>
            <a:off x="8275320" y="2468880"/>
            <a:ext cx="3108960" cy="822960"/>
          </a:xfrm>
          <a:prstGeom prst="rect">
            <a:avLst/>
          </a:prstGeom>
          <a:noFill/>
        </p:spPr>
        <p:txBody>
          <a:bodyPr wrap="square" anchor="t">
            <a:spAutoFit/>
          </a:bodyPr>
          <a:lstStyle/>
          <a:p>
            <a:pPr algn="l"/>
            <a:r>
              <a:rPr sz="1600" b="0" i="0">
                <a:solidFill>
                  <a:srgbClr val="0F172A"/>
                </a:solidFill>
                <a:latin typeface="Calibri"/>
              </a:rPr>
              <a:t>Basic alerts free. Plan + claim features paid.</a:t>
            </a:r>
          </a:p>
        </p:txBody>
      </p:sp>
      <p:sp>
        <p:nvSpPr>
          <p:cNvPr id="14" name="TextBox 13"/>
          <p:cNvSpPr txBox="1"/>
          <p:nvPr/>
        </p:nvSpPr>
        <p:spPr>
          <a:xfrm>
            <a:off x="8275320" y="3383280"/>
            <a:ext cx="3108960" cy="548640"/>
          </a:xfrm>
          <a:prstGeom prst="rect">
            <a:avLst/>
          </a:prstGeom>
          <a:noFill/>
        </p:spPr>
        <p:txBody>
          <a:bodyPr wrap="square" anchor="t">
            <a:spAutoFit/>
          </a:bodyPr>
          <a:lstStyle/>
          <a:p>
            <a:pPr algn="l"/>
            <a:r>
              <a:rPr sz="2200" b="1" i="0">
                <a:solidFill>
                  <a:srgbClr val="0284C7"/>
                </a:solidFill>
                <a:latin typeface="Calibri"/>
              </a:rPr>
              <a:t>RM 19 / month</a:t>
            </a:r>
          </a:p>
        </p:txBody>
      </p:sp>
      <p:sp>
        <p:nvSpPr>
          <p:cNvPr id="15" name="Rounded Rectangle 14"/>
          <p:cNvSpPr/>
          <p:nvPr/>
        </p:nvSpPr>
        <p:spPr>
          <a:xfrm>
            <a:off x="548640" y="4754880"/>
            <a:ext cx="3566160" cy="11887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892040"/>
            <a:ext cx="3200400" cy="457200"/>
          </a:xfrm>
          <a:prstGeom prst="rect">
            <a:avLst/>
          </a:prstGeom>
          <a:noFill/>
        </p:spPr>
        <p:txBody>
          <a:bodyPr wrap="square" anchor="t">
            <a:spAutoFit/>
          </a:bodyPr>
          <a:lstStyle/>
          <a:p>
            <a:pPr algn="l"/>
            <a:r>
              <a:rPr sz="1600" b="1" i="0">
                <a:solidFill>
                  <a:srgbClr val="0F172A"/>
                </a:solidFill>
                <a:latin typeface="Calibri"/>
              </a:rPr>
              <a:t>Marginal cost / shop / flood ≈ 0</a:t>
            </a:r>
          </a:p>
        </p:txBody>
      </p:sp>
      <p:sp>
        <p:nvSpPr>
          <p:cNvPr id="17" name="TextBox 16"/>
          <p:cNvSpPr txBox="1"/>
          <p:nvPr/>
        </p:nvSpPr>
        <p:spPr>
          <a:xfrm>
            <a:off x="731520" y="5349240"/>
            <a:ext cx="3200400" cy="548640"/>
          </a:xfrm>
          <a:prstGeom prst="rect">
            <a:avLst/>
          </a:prstGeom>
          <a:noFill/>
        </p:spPr>
        <p:txBody>
          <a:bodyPr wrap="square" anchor="t">
            <a:spAutoFit/>
          </a:bodyPr>
          <a:lstStyle/>
          <a:p>
            <a:pPr algn="l"/>
            <a:r>
              <a:rPr sz="1300" b="0" i="0">
                <a:solidFill>
                  <a:srgbClr val="475569"/>
                </a:solidFill>
                <a:latin typeface="Calibri"/>
              </a:rPr>
              <a:t>one dry-day AI call, then DB lookup + one message</a:t>
            </a:r>
          </a:p>
        </p:txBody>
      </p:sp>
      <p:sp>
        <p:nvSpPr>
          <p:cNvPr id="18" name="Rounded Rectangle 17"/>
          <p:cNvSpPr/>
          <p:nvPr/>
        </p:nvSpPr>
        <p:spPr>
          <a:xfrm>
            <a:off x="4274820" y="4754880"/>
            <a:ext cx="3566160" cy="11887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57700" y="4892040"/>
            <a:ext cx="3200400" cy="457200"/>
          </a:xfrm>
          <a:prstGeom prst="rect">
            <a:avLst/>
          </a:prstGeom>
          <a:noFill/>
        </p:spPr>
        <p:txBody>
          <a:bodyPr wrap="square" anchor="t">
            <a:spAutoFit/>
          </a:bodyPr>
          <a:lstStyle/>
          <a:p>
            <a:pPr algn="l"/>
            <a:r>
              <a:rPr sz="1600" b="1" i="0">
                <a:solidFill>
                  <a:srgbClr val="0F172A"/>
                </a:solidFill>
                <a:latin typeface="Calibri"/>
              </a:rPr>
              <a:t>Data moat</a:t>
            </a:r>
          </a:p>
        </p:txBody>
      </p:sp>
      <p:sp>
        <p:nvSpPr>
          <p:cNvPr id="20" name="TextBox 19"/>
          <p:cNvSpPr txBox="1"/>
          <p:nvPr/>
        </p:nvSpPr>
        <p:spPr>
          <a:xfrm>
            <a:off x="4457700" y="5349240"/>
            <a:ext cx="3200400" cy="548640"/>
          </a:xfrm>
          <a:prstGeom prst="rect">
            <a:avLst/>
          </a:prstGeom>
          <a:noFill/>
        </p:spPr>
        <p:txBody>
          <a:bodyPr wrap="square" anchor="t">
            <a:spAutoFit/>
          </a:bodyPr>
          <a:lstStyle/>
          <a:p>
            <a:pPr algn="l"/>
            <a:r>
              <a:rPr sz="1300" b="0" i="0">
                <a:solidFill>
                  <a:srgbClr val="475569"/>
                </a:solidFill>
                <a:latin typeface="Calibri"/>
              </a:rPr>
              <a:t>site graphs + behavioural completion data nobody else has</a:t>
            </a:r>
          </a:p>
        </p:txBody>
      </p:sp>
      <p:sp>
        <p:nvSpPr>
          <p:cNvPr id="21" name="Rounded Rectangle 20"/>
          <p:cNvSpPr/>
          <p:nvPr/>
        </p:nvSpPr>
        <p:spPr>
          <a:xfrm>
            <a:off x="8001000" y="4754880"/>
            <a:ext cx="3566160" cy="11887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4892040"/>
            <a:ext cx="3200400" cy="457200"/>
          </a:xfrm>
          <a:prstGeom prst="rect">
            <a:avLst/>
          </a:prstGeom>
          <a:noFill/>
        </p:spPr>
        <p:txBody>
          <a:bodyPr wrap="square" anchor="t">
            <a:spAutoFit/>
          </a:bodyPr>
          <a:lstStyle/>
          <a:p>
            <a:pPr algn="l"/>
            <a:r>
              <a:rPr sz="1600" b="1" i="0">
                <a:solidFill>
                  <a:srgbClr val="0F172A"/>
                </a:solidFill>
                <a:latin typeface="Calibri"/>
              </a:rPr>
              <a:t>Go to market</a:t>
            </a:r>
          </a:p>
        </p:txBody>
      </p:sp>
      <p:sp>
        <p:nvSpPr>
          <p:cNvPr id="23" name="TextBox 22"/>
          <p:cNvSpPr txBox="1"/>
          <p:nvPr/>
        </p:nvSpPr>
        <p:spPr>
          <a:xfrm>
            <a:off x="8183879" y="5349240"/>
            <a:ext cx="3200400" cy="548640"/>
          </a:xfrm>
          <a:prstGeom prst="rect">
            <a:avLst/>
          </a:prstGeom>
          <a:noFill/>
        </p:spPr>
        <p:txBody>
          <a:bodyPr wrap="square" anchor="t">
            <a:spAutoFit/>
          </a:bodyPr>
          <a:lstStyle/>
          <a:p>
            <a:pPr algn="l"/>
            <a:r>
              <a:rPr sz="1300" b="0" i="0">
                <a:solidFill>
                  <a:srgbClr val="475569"/>
                </a:solidFill>
                <a:latin typeface="Calibri"/>
              </a:rPr>
              <a:t>one takaful + one council pilot, measured vs the next street</a:t>
            </a:r>
          </a:p>
        </p:txBody>
      </p:sp>
      <p:sp>
        <p:nvSpPr>
          <p:cNvPr id="24" name="TextBox 23"/>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We measure impact, not adjectives</a:t>
            </a:r>
          </a:p>
        </p:txBody>
      </p:sp>
      <p:sp>
        <p:nvSpPr>
          <p:cNvPr id="4" name="Rounded Rectangle 3"/>
          <p:cNvSpPr/>
          <p:nvPr/>
        </p:nvSpPr>
        <p:spPr>
          <a:xfrm>
            <a:off x="548640" y="1737360"/>
            <a:ext cx="3383280" cy="155448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65960"/>
            <a:ext cx="3108960" cy="731520"/>
          </a:xfrm>
          <a:prstGeom prst="rect">
            <a:avLst/>
          </a:prstGeom>
          <a:noFill/>
        </p:spPr>
        <p:txBody>
          <a:bodyPr wrap="square" anchor="t">
            <a:spAutoFit/>
          </a:bodyPr>
          <a:lstStyle/>
          <a:p>
            <a:pPr algn="ctr"/>
            <a:r>
              <a:rPr sz="3400" b="1" i="0">
                <a:solidFill>
                  <a:srgbClr val="0284C7"/>
                </a:solidFill>
                <a:latin typeface="Calibri"/>
              </a:rPr>
              <a:t>RM 10,600–22,200</a:t>
            </a:r>
          </a:p>
        </p:txBody>
      </p:sp>
      <p:sp>
        <p:nvSpPr>
          <p:cNvPr id="6" name="TextBox 5"/>
          <p:cNvSpPr txBox="1"/>
          <p:nvPr/>
        </p:nvSpPr>
        <p:spPr>
          <a:xfrm>
            <a:off x="685800" y="2743200"/>
            <a:ext cx="3108960" cy="365760"/>
          </a:xfrm>
          <a:prstGeom prst="rect">
            <a:avLst/>
          </a:prstGeom>
          <a:noFill/>
        </p:spPr>
        <p:txBody>
          <a:bodyPr wrap="square" anchor="t">
            <a:spAutoFit/>
          </a:bodyPr>
          <a:lstStyle/>
          <a:p>
            <a:pPr algn="ctr"/>
            <a:r>
              <a:rPr sz="1600" b="0" i="0">
                <a:solidFill>
                  <a:srgbClr val="475569"/>
                </a:solidFill>
                <a:latin typeface="Calibri"/>
              </a:rPr>
              <a:t>protected per event</a:t>
            </a:r>
          </a:p>
        </p:txBody>
      </p:sp>
      <p:sp>
        <p:nvSpPr>
          <p:cNvPr id="7" name="Rounded Rectangle 6"/>
          <p:cNvSpPr/>
          <p:nvPr/>
        </p:nvSpPr>
        <p:spPr>
          <a:xfrm>
            <a:off x="4160520" y="1737360"/>
            <a:ext cx="3383280" cy="155448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1965960"/>
            <a:ext cx="3108960" cy="731520"/>
          </a:xfrm>
          <a:prstGeom prst="rect">
            <a:avLst/>
          </a:prstGeom>
          <a:noFill/>
        </p:spPr>
        <p:txBody>
          <a:bodyPr wrap="square" anchor="t">
            <a:spAutoFit/>
          </a:bodyPr>
          <a:lstStyle/>
          <a:p>
            <a:pPr algn="ctr"/>
            <a:r>
              <a:rPr sz="3400" b="1" i="0">
                <a:solidFill>
                  <a:srgbClr val="0284C7"/>
                </a:solidFill>
                <a:latin typeface="Calibri"/>
              </a:rPr>
              <a:t>3h 12m</a:t>
            </a:r>
          </a:p>
        </p:txBody>
      </p:sp>
      <p:sp>
        <p:nvSpPr>
          <p:cNvPr id="9" name="TextBox 8"/>
          <p:cNvSpPr txBox="1"/>
          <p:nvPr/>
        </p:nvSpPr>
        <p:spPr>
          <a:xfrm>
            <a:off x="4297680" y="2743200"/>
            <a:ext cx="3108960" cy="365760"/>
          </a:xfrm>
          <a:prstGeom prst="rect">
            <a:avLst/>
          </a:prstGeom>
          <a:noFill/>
        </p:spPr>
        <p:txBody>
          <a:bodyPr wrap="square" anchor="t">
            <a:spAutoFit/>
          </a:bodyPr>
          <a:lstStyle/>
          <a:p>
            <a:pPr algn="ctr"/>
            <a:r>
              <a:rPr sz="1600" b="0" i="0">
                <a:solidFill>
                  <a:srgbClr val="475569"/>
                </a:solidFill>
                <a:latin typeface="Calibri"/>
              </a:rPr>
              <a:t>warning lead time</a:t>
            </a:r>
          </a:p>
        </p:txBody>
      </p:sp>
      <p:sp>
        <p:nvSpPr>
          <p:cNvPr id="10" name="Rounded Rectangle 9"/>
          <p:cNvSpPr/>
          <p:nvPr/>
        </p:nvSpPr>
        <p:spPr>
          <a:xfrm>
            <a:off x="7772400" y="1737360"/>
            <a:ext cx="3383280" cy="155448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1965960"/>
            <a:ext cx="3108960" cy="731520"/>
          </a:xfrm>
          <a:prstGeom prst="rect">
            <a:avLst/>
          </a:prstGeom>
          <a:noFill/>
        </p:spPr>
        <p:txBody>
          <a:bodyPr wrap="square" anchor="t">
            <a:spAutoFit/>
          </a:bodyPr>
          <a:lstStyle/>
          <a:p>
            <a:pPr algn="ctr"/>
            <a:r>
              <a:rPr sz="3400" b="1" i="0">
                <a:solidFill>
                  <a:srgbClr val="0284C7"/>
                </a:solidFill>
                <a:latin typeface="Calibri"/>
              </a:rPr>
              <a:t>2.0s</a:t>
            </a:r>
          </a:p>
        </p:txBody>
      </p:sp>
      <p:sp>
        <p:nvSpPr>
          <p:cNvPr id="12" name="TextBox 11"/>
          <p:cNvSpPr txBox="1"/>
          <p:nvPr/>
        </p:nvSpPr>
        <p:spPr>
          <a:xfrm>
            <a:off x="7909560" y="2743200"/>
            <a:ext cx="3108960" cy="365760"/>
          </a:xfrm>
          <a:prstGeom prst="rect">
            <a:avLst/>
          </a:prstGeom>
          <a:noFill/>
        </p:spPr>
        <p:txBody>
          <a:bodyPr wrap="square" anchor="t">
            <a:spAutoFit/>
          </a:bodyPr>
          <a:lstStyle/>
          <a:p>
            <a:pPr algn="ctr"/>
            <a:r>
              <a:rPr sz="1600" b="0" i="0">
                <a:solidFill>
                  <a:srgbClr val="475569"/>
                </a:solidFill>
                <a:latin typeface="Calibri"/>
              </a:rPr>
              <a:t>dispatch latency</a:t>
            </a:r>
          </a:p>
        </p:txBody>
      </p:sp>
      <p:sp>
        <p:nvSpPr>
          <p:cNvPr id="13" name="Rounded Rectangle 12"/>
          <p:cNvSpPr/>
          <p:nvPr/>
        </p:nvSpPr>
        <p:spPr>
          <a:xfrm>
            <a:off x="548640" y="3520439"/>
            <a:ext cx="3383280" cy="155448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749039"/>
            <a:ext cx="3108960" cy="731520"/>
          </a:xfrm>
          <a:prstGeom prst="rect">
            <a:avLst/>
          </a:prstGeom>
          <a:noFill/>
        </p:spPr>
        <p:txBody>
          <a:bodyPr wrap="square" anchor="t">
            <a:spAutoFit/>
          </a:bodyPr>
          <a:lstStyle/>
          <a:p>
            <a:pPr algn="ctr"/>
            <a:r>
              <a:rPr sz="3400" b="1" i="0">
                <a:solidFill>
                  <a:srgbClr val="0284C7"/>
                </a:solidFill>
                <a:latin typeface="Calibri"/>
              </a:rPr>
              <a:t>83%</a:t>
            </a:r>
          </a:p>
        </p:txBody>
      </p:sp>
      <p:sp>
        <p:nvSpPr>
          <p:cNvPr id="15" name="TextBox 14"/>
          <p:cNvSpPr txBox="1"/>
          <p:nvPr/>
        </p:nvSpPr>
        <p:spPr>
          <a:xfrm>
            <a:off x="685800" y="4526279"/>
            <a:ext cx="3108960" cy="365760"/>
          </a:xfrm>
          <a:prstGeom prst="rect">
            <a:avLst/>
          </a:prstGeom>
          <a:noFill/>
        </p:spPr>
        <p:txBody>
          <a:bodyPr wrap="square" anchor="t">
            <a:spAutoFit/>
          </a:bodyPr>
          <a:lstStyle/>
          <a:p>
            <a:pPr algn="ctr"/>
            <a:r>
              <a:rPr sz="1600" b="0" i="0">
                <a:solidFill>
                  <a:srgbClr val="475569"/>
                </a:solidFill>
                <a:latin typeface="Calibri"/>
              </a:rPr>
              <a:t>actions completed</a:t>
            </a:r>
          </a:p>
        </p:txBody>
      </p:sp>
      <p:sp>
        <p:nvSpPr>
          <p:cNvPr id="16" name="Rounded Rectangle 15"/>
          <p:cNvSpPr/>
          <p:nvPr/>
        </p:nvSpPr>
        <p:spPr>
          <a:xfrm>
            <a:off x="4160520" y="3520439"/>
            <a:ext cx="3383280" cy="155448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3749039"/>
            <a:ext cx="3108960" cy="731520"/>
          </a:xfrm>
          <a:prstGeom prst="rect">
            <a:avLst/>
          </a:prstGeom>
          <a:noFill/>
        </p:spPr>
        <p:txBody>
          <a:bodyPr wrap="square" anchor="t">
            <a:spAutoFit/>
          </a:bodyPr>
          <a:lstStyle/>
          <a:p>
            <a:pPr algn="ctr"/>
            <a:r>
              <a:rPr sz="3400" b="1" i="0">
                <a:solidFill>
                  <a:srgbClr val="0284C7"/>
                </a:solidFill>
                <a:latin typeface="Calibri"/>
              </a:rPr>
              <a:t>90s</a:t>
            </a:r>
          </a:p>
        </p:txBody>
      </p:sp>
      <p:sp>
        <p:nvSpPr>
          <p:cNvPr id="18" name="TextBox 17"/>
          <p:cNvSpPr txBox="1"/>
          <p:nvPr/>
        </p:nvSpPr>
        <p:spPr>
          <a:xfrm>
            <a:off x="4297680" y="4526279"/>
            <a:ext cx="3108960" cy="365760"/>
          </a:xfrm>
          <a:prstGeom prst="rect">
            <a:avLst/>
          </a:prstGeom>
          <a:noFill/>
        </p:spPr>
        <p:txBody>
          <a:bodyPr wrap="square" anchor="t">
            <a:spAutoFit/>
          </a:bodyPr>
          <a:lstStyle/>
          <a:p>
            <a:pPr algn="ctr"/>
            <a:r>
              <a:rPr sz="1600" b="0" i="0">
                <a:solidFill>
                  <a:srgbClr val="475569"/>
                </a:solidFill>
                <a:latin typeface="Calibri"/>
              </a:rPr>
              <a:t>to first action</a:t>
            </a:r>
          </a:p>
        </p:txBody>
      </p:sp>
      <p:sp>
        <p:nvSpPr>
          <p:cNvPr id="19" name="Rounded Rectangle 18"/>
          <p:cNvSpPr/>
          <p:nvPr/>
        </p:nvSpPr>
        <p:spPr>
          <a:xfrm>
            <a:off x="7772400" y="3520439"/>
            <a:ext cx="3383280" cy="155448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3749039"/>
            <a:ext cx="3108960" cy="731520"/>
          </a:xfrm>
          <a:prstGeom prst="rect">
            <a:avLst/>
          </a:prstGeom>
          <a:noFill/>
        </p:spPr>
        <p:txBody>
          <a:bodyPr wrap="square" anchor="t">
            <a:spAutoFit/>
          </a:bodyPr>
          <a:lstStyle/>
          <a:p>
            <a:pPr algn="ctr"/>
            <a:r>
              <a:rPr sz="3400" b="1" i="0">
                <a:solidFill>
                  <a:srgbClr val="0284C7"/>
                </a:solidFill>
                <a:latin typeface="Calibri"/>
              </a:rPr>
              <a:t>4 min</a:t>
            </a:r>
          </a:p>
        </p:txBody>
      </p:sp>
      <p:sp>
        <p:nvSpPr>
          <p:cNvPr id="21" name="TextBox 20"/>
          <p:cNvSpPr txBox="1"/>
          <p:nvPr/>
        </p:nvSpPr>
        <p:spPr>
          <a:xfrm>
            <a:off x="7909560" y="4526279"/>
            <a:ext cx="3108960" cy="365760"/>
          </a:xfrm>
          <a:prstGeom prst="rect">
            <a:avLst/>
          </a:prstGeom>
          <a:noFill/>
        </p:spPr>
        <p:txBody>
          <a:bodyPr wrap="square" anchor="t">
            <a:spAutoFit/>
          </a:bodyPr>
          <a:lstStyle/>
          <a:p>
            <a:pPr algn="ctr"/>
            <a:r>
              <a:rPr sz="1600" b="0" i="0">
                <a:solidFill>
                  <a:srgbClr val="475569"/>
                </a:solidFill>
                <a:latin typeface="Calibri"/>
              </a:rPr>
              <a:t>claim report (vs weeks)</a:t>
            </a:r>
          </a:p>
        </p:txBody>
      </p:sp>
      <p:sp>
        <p:nvSpPr>
          <p:cNvPr id="22" name="TextBox 21"/>
          <p:cNvSpPr txBox="1"/>
          <p:nvPr/>
        </p:nvSpPr>
        <p:spPr>
          <a:xfrm>
            <a:off x="548640" y="5394960"/>
            <a:ext cx="11091672" cy="457200"/>
          </a:xfrm>
          <a:prstGeom prst="rect">
            <a:avLst/>
          </a:prstGeom>
          <a:noFill/>
        </p:spPr>
        <p:txBody>
          <a:bodyPr wrap="square" anchor="t">
            <a:spAutoFit/>
          </a:bodyPr>
          <a:lstStyle/>
          <a:p>
            <a:pPr algn="ctr"/>
            <a:r>
              <a:rPr sz="1800" b="0" i="0">
                <a:solidFill>
                  <a:srgbClr val="0F172A"/>
                </a:solidFill>
                <a:latin typeface="Calibri"/>
              </a:rPr>
              <a:t>The numbers a takaful actuary and a council underwrite against.</a:t>
            </a:r>
          </a:p>
        </p:txBody>
      </p:sp>
      <p:sp>
        <p:nvSpPr>
          <p:cNvPr id="23" name="TextBox 22"/>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Root cause, not symptom</a:t>
            </a:r>
          </a:p>
        </p:txBody>
      </p:sp>
      <p:sp>
        <p:nvSpPr>
          <p:cNvPr id="4" name="Rounded Rectangle 3"/>
          <p:cNvSpPr/>
          <p:nvPr/>
        </p:nvSpPr>
        <p:spPr>
          <a:xfrm>
            <a:off x="548640" y="1554480"/>
            <a:ext cx="5394960" cy="16916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73352"/>
            <a:ext cx="4937760" cy="365760"/>
          </a:xfrm>
          <a:prstGeom prst="rect">
            <a:avLst/>
          </a:prstGeom>
          <a:noFill/>
        </p:spPr>
        <p:txBody>
          <a:bodyPr wrap="square" anchor="t">
            <a:spAutoFit/>
          </a:bodyPr>
          <a:lstStyle/>
          <a:p>
            <a:pPr algn="l"/>
            <a:r>
              <a:rPr sz="1600" b="1" i="0">
                <a:solidFill>
                  <a:srgbClr val="0F172A"/>
                </a:solidFill>
                <a:latin typeface="Calibri"/>
              </a:rPr>
              <a:t>“Shifting the Burden” archetype</a:t>
            </a:r>
          </a:p>
        </p:txBody>
      </p:sp>
      <p:sp>
        <p:nvSpPr>
          <p:cNvPr id="6" name="Rounded Rectangle 5"/>
          <p:cNvSpPr/>
          <p:nvPr/>
        </p:nvSpPr>
        <p:spPr>
          <a:xfrm>
            <a:off x="777240" y="2103120"/>
            <a:ext cx="2286000" cy="658368"/>
          </a:xfrm>
          <a:prstGeom prst="roundRect">
            <a:avLst>
              <a:gd name="adj" fmla="val 6000"/>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i="0">
                <a:solidFill>
                  <a:srgbClr val="0F172A"/>
                </a:solidFill>
                <a:latin typeface="Calibri"/>
              </a:rPr>
              <a:t>Symptom fix:</a:t>
            </a:r>
          </a:p>
          <a:p>
            <a:pPr algn="ctr"/>
            <a:r>
              <a:rPr sz="1300" b="0" i="0">
                <a:solidFill>
                  <a:srgbClr val="0F172A"/>
                </a:solidFill>
                <a:latin typeface="Calibri"/>
              </a:rPr>
              <a:t>relief + loans (after)</a:t>
            </a:r>
          </a:p>
        </p:txBody>
      </p:sp>
      <p:sp>
        <p:nvSpPr>
          <p:cNvPr id="7" name="Rounded Rectangle 6"/>
          <p:cNvSpPr/>
          <p:nvPr/>
        </p:nvSpPr>
        <p:spPr>
          <a:xfrm>
            <a:off x="3566160" y="2103120"/>
            <a:ext cx="2148840" cy="658368"/>
          </a:xfrm>
          <a:prstGeom prst="roundRect">
            <a:avLst>
              <a:gd name="adj" fmla="val 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Fundamental:</a:t>
            </a:r>
          </a:p>
          <a:p>
            <a:pPr algn="ctr"/>
            <a:r>
              <a:rPr sz="1300" b="1" i="0">
                <a:solidFill>
                  <a:srgbClr val="FFFFFF"/>
                </a:solidFill>
                <a:latin typeface="Calibri"/>
              </a:rPr>
              <a:t>anticipation (before)</a:t>
            </a:r>
          </a:p>
        </p:txBody>
      </p:sp>
      <p:sp>
        <p:nvSpPr>
          <p:cNvPr id="8" name="TextBox 7"/>
          <p:cNvSpPr txBox="1"/>
          <p:nvPr/>
        </p:nvSpPr>
        <p:spPr>
          <a:xfrm>
            <a:off x="777240" y="2816352"/>
            <a:ext cx="4937760" cy="365760"/>
          </a:xfrm>
          <a:prstGeom prst="rect">
            <a:avLst/>
          </a:prstGeom>
          <a:noFill/>
        </p:spPr>
        <p:txBody>
          <a:bodyPr wrap="square" anchor="t">
            <a:spAutoFit/>
          </a:bodyPr>
          <a:lstStyle/>
          <a:p>
            <a:pPr algn="l"/>
            <a:r>
              <a:rPr sz="1300" b="0" i="1">
                <a:solidFill>
                  <a:srgbClr val="475569"/>
                </a:solidFill>
                <a:latin typeface="Calibri"/>
              </a:rPr>
              <a:t>Leaning on the quick fix lets real resilience wither.</a:t>
            </a:r>
          </a:p>
        </p:txBody>
      </p:sp>
      <p:sp>
        <p:nvSpPr>
          <p:cNvPr id="9" name="Rounded Rectangle 8"/>
          <p:cNvSpPr/>
          <p:nvPr/>
        </p:nvSpPr>
        <p:spPr>
          <a:xfrm>
            <a:off x="548640" y="3429000"/>
            <a:ext cx="5394960" cy="2423160"/>
          </a:xfrm>
          <a:prstGeom prst="roundRect">
            <a:avLst>
              <a:gd name="adj" fmla="val 6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547872"/>
            <a:ext cx="4937760" cy="365760"/>
          </a:xfrm>
          <a:prstGeom prst="rect">
            <a:avLst/>
          </a:prstGeom>
          <a:noFill/>
        </p:spPr>
        <p:txBody>
          <a:bodyPr wrap="square" anchor="t">
            <a:spAutoFit/>
          </a:bodyPr>
          <a:lstStyle/>
          <a:p>
            <a:pPr algn="l"/>
            <a:r>
              <a:rPr sz="1500" b="1" i="0">
                <a:solidFill>
                  <a:srgbClr val="DC2626"/>
                </a:solidFill>
                <a:latin typeface="Calibri"/>
              </a:rPr>
              <a:t>Vicious cycle (reinforcing)</a:t>
            </a:r>
          </a:p>
        </p:txBody>
      </p:sp>
      <p:sp>
        <p:nvSpPr>
          <p:cNvPr id="11" name="TextBox 10"/>
          <p:cNvSpPr txBox="1"/>
          <p:nvPr/>
        </p:nvSpPr>
        <p:spPr>
          <a:xfrm>
            <a:off x="777240" y="3977639"/>
            <a:ext cx="4937760" cy="1280160"/>
          </a:xfrm>
          <a:prstGeom prst="rect">
            <a:avLst/>
          </a:prstGeom>
          <a:noFill/>
        </p:spPr>
        <p:txBody>
          <a:bodyPr wrap="square" anchor="t">
            <a:spAutoFit/>
          </a:bodyPr>
          <a:lstStyle/>
          <a:p>
            <a:pPr algn="l"/>
            <a:r>
              <a:rPr sz="1500" b="0" i="0">
                <a:solidFill>
                  <a:srgbClr val="0F172A"/>
                </a:solidFill>
                <a:latin typeface="Calibri"/>
              </a:rPr>
              <a:t>flood → loss → debt → thinner buffer → next flood worse → closure / displacement → the neighbourhood loses its shop</a:t>
            </a:r>
          </a:p>
        </p:txBody>
      </p:sp>
      <p:sp>
        <p:nvSpPr>
          <p:cNvPr id="12" name="TextBox 11"/>
          <p:cNvSpPr txBox="1"/>
          <p:nvPr/>
        </p:nvSpPr>
        <p:spPr>
          <a:xfrm>
            <a:off x="777240" y="5212080"/>
            <a:ext cx="4937760" cy="548640"/>
          </a:xfrm>
          <a:prstGeom prst="rect">
            <a:avLst/>
          </a:prstGeom>
          <a:noFill/>
        </p:spPr>
        <p:txBody>
          <a:bodyPr wrap="square" anchor="t">
            <a:spAutoFit/>
          </a:bodyPr>
          <a:lstStyle/>
          <a:p>
            <a:pPr algn="l"/>
            <a:r>
              <a:rPr sz="1300" b="0" i="0">
                <a:solidFill>
                  <a:srgbClr val="DC2626"/>
                </a:solidFill>
                <a:latin typeface="Calibri"/>
              </a:rPr>
              <a:t>Falls first on those least able to absorb it — uninsured, informal, women-run micro-shops.</a:t>
            </a:r>
          </a:p>
        </p:txBody>
      </p:sp>
      <p:sp>
        <p:nvSpPr>
          <p:cNvPr id="13" name="Rounded Rectangle 12"/>
          <p:cNvSpPr/>
          <p:nvPr/>
        </p:nvSpPr>
        <p:spPr>
          <a:xfrm>
            <a:off x="6126480" y="1554480"/>
            <a:ext cx="5486400" cy="4297680"/>
          </a:xfrm>
          <a:prstGeom prst="roundRect">
            <a:avLst>
              <a:gd name="adj" fmla="val 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691640"/>
            <a:ext cx="5029200" cy="365760"/>
          </a:xfrm>
          <a:prstGeom prst="rect">
            <a:avLst/>
          </a:prstGeom>
          <a:noFill/>
        </p:spPr>
        <p:txBody>
          <a:bodyPr wrap="square" anchor="t">
            <a:spAutoFit/>
          </a:bodyPr>
          <a:lstStyle/>
          <a:p>
            <a:pPr algn="l"/>
            <a:r>
              <a:rPr sz="1600" b="1" i="0">
                <a:solidFill>
                  <a:srgbClr val="0284C7"/>
                </a:solidFill>
                <a:latin typeface="Calibri"/>
              </a:rPr>
              <a:t>We shift the intervention upstream — and reverse the loop</a:t>
            </a:r>
          </a:p>
        </p:txBody>
      </p:sp>
      <p:sp>
        <p:nvSpPr>
          <p:cNvPr id="15" name="TextBox 14"/>
          <p:cNvSpPr txBox="1"/>
          <p:nvPr/>
        </p:nvSpPr>
        <p:spPr>
          <a:xfrm>
            <a:off x="6355080" y="2286000"/>
            <a:ext cx="5029200" cy="2743200"/>
          </a:xfrm>
          <a:prstGeom prst="rect">
            <a:avLst/>
          </a:prstGeom>
          <a:noFill/>
        </p:spPr>
        <p:txBody>
          <a:bodyPr wrap="square" anchor="t">
            <a:spAutoFit/>
          </a:bodyPr>
          <a:lstStyle/>
          <a:p>
            <a:pPr algn="l"/>
            <a:r>
              <a:rPr sz="1800" b="0" i="0">
                <a:solidFill>
                  <a:srgbClr val="0F172A"/>
                </a:solidFill>
                <a:latin typeface="Calibri"/>
              </a:rPr>
              <a:t>early warning → action → less loss → telemetry-backed evidence → faster payout → trust → more shops protected → better data → better playbooks</a:t>
            </a:r>
          </a:p>
        </p:txBody>
      </p:sp>
      <p:sp>
        <p:nvSpPr>
          <p:cNvPr id="16" name="TextBox 15"/>
          <p:cNvSpPr txBox="1"/>
          <p:nvPr/>
        </p:nvSpPr>
        <p:spPr>
          <a:xfrm>
            <a:off x="6355080" y="5257800"/>
            <a:ext cx="5029200" cy="502920"/>
          </a:xfrm>
          <a:prstGeom prst="rect">
            <a:avLst/>
          </a:prstGeom>
          <a:noFill/>
        </p:spPr>
        <p:txBody>
          <a:bodyPr wrap="square" anchor="t">
            <a:spAutoFit/>
          </a:bodyPr>
          <a:lstStyle/>
          <a:p>
            <a:pPr algn="l"/>
            <a:r>
              <a:rPr sz="1400" b="1" i="0">
                <a:solidFill>
                  <a:srgbClr val="0284C7"/>
                </a:solidFill>
                <a:latin typeface="Calibri"/>
              </a:rPr>
              <a:t>Same loop, run the other way. That is the leverage point.</a:t>
            </a:r>
          </a:p>
        </p:txBody>
      </p:sp>
      <p:sp>
        <p:nvSpPr>
          <p:cNvPr id="17" name="TextBox 16"/>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Designed for the whole system</a:t>
            </a:r>
          </a:p>
        </p:txBody>
      </p:sp>
      <p:sp>
        <p:nvSpPr>
          <p:cNvPr id="4" name="Rounded Rectangle 3"/>
          <p:cNvSpPr/>
          <p:nvPr/>
        </p:nvSpPr>
        <p:spPr>
          <a:xfrm>
            <a:off x="548640" y="1645920"/>
            <a:ext cx="3566160" cy="41148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828800"/>
            <a:ext cx="3163824" cy="731520"/>
          </a:xfrm>
          <a:prstGeom prst="rect">
            <a:avLst/>
          </a:prstGeom>
          <a:noFill/>
        </p:spPr>
        <p:txBody>
          <a:bodyPr wrap="square" anchor="t">
            <a:spAutoFit/>
          </a:bodyPr>
          <a:lstStyle/>
          <a:p>
            <a:pPr algn="l"/>
            <a:r>
              <a:rPr sz="1800" b="1" i="0">
                <a:solidFill>
                  <a:srgbClr val="0284C7"/>
                </a:solidFill>
                <a:latin typeface="Calibri"/>
              </a:rPr>
              <a:t>Resilient</a:t>
            </a:r>
          </a:p>
        </p:txBody>
      </p:sp>
      <p:sp>
        <p:nvSpPr>
          <p:cNvPr id="6" name="TextBox 5"/>
          <p:cNvSpPr txBox="1"/>
          <p:nvPr/>
        </p:nvSpPr>
        <p:spPr>
          <a:xfrm>
            <a:off x="749808" y="2697480"/>
            <a:ext cx="3163824" cy="2194560"/>
          </a:xfrm>
          <a:prstGeom prst="rect">
            <a:avLst/>
          </a:prstGeom>
          <a:noFill/>
        </p:spPr>
        <p:txBody>
          <a:bodyPr wrap="square" anchor="t">
            <a:spAutoFit/>
          </a:bodyPr>
          <a:lstStyle/>
          <a:p>
            <a:pPr algn="l"/>
            <a:r>
              <a:rPr sz="1500" b="0" i="0">
                <a:solidFill>
                  <a:srgbClr val="0F172A"/>
                </a:solidFill>
                <a:latin typeface="Calibri"/>
              </a:rPr>
              <a:t>Feed dies → watchdog advisory. Network dies → earliest tier + paper plan. Three channels: Telegram · SMS · Paper.</a:t>
            </a:r>
          </a:p>
        </p:txBody>
      </p:sp>
      <p:sp>
        <p:nvSpPr>
          <p:cNvPr id="7" name="TextBox 6"/>
          <p:cNvSpPr txBox="1"/>
          <p:nvPr/>
        </p:nvSpPr>
        <p:spPr>
          <a:xfrm>
            <a:off x="749808" y="5029200"/>
            <a:ext cx="3163824" cy="640080"/>
          </a:xfrm>
          <a:prstGeom prst="rect">
            <a:avLst/>
          </a:prstGeom>
          <a:noFill/>
        </p:spPr>
        <p:txBody>
          <a:bodyPr wrap="square" anchor="t">
            <a:spAutoFit/>
          </a:bodyPr>
          <a:lstStyle/>
          <a:p>
            <a:pPr algn="l"/>
            <a:r>
              <a:rPr sz="1200" b="0" i="1">
                <a:solidFill>
                  <a:srgbClr val="475569"/>
                </a:solidFill>
                <a:latin typeface="Calibri"/>
              </a:rPr>
              <a:t>power, phones, roads — no single point of failure</a:t>
            </a:r>
          </a:p>
        </p:txBody>
      </p:sp>
      <p:sp>
        <p:nvSpPr>
          <p:cNvPr id="8" name="Rounded Rectangle 7"/>
          <p:cNvSpPr/>
          <p:nvPr/>
        </p:nvSpPr>
        <p:spPr>
          <a:xfrm>
            <a:off x="4274820" y="1645920"/>
            <a:ext cx="3566160" cy="41148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5988" y="1828800"/>
            <a:ext cx="3163824" cy="731520"/>
          </a:xfrm>
          <a:prstGeom prst="rect">
            <a:avLst/>
          </a:prstGeom>
          <a:noFill/>
        </p:spPr>
        <p:txBody>
          <a:bodyPr wrap="square" anchor="t">
            <a:spAutoFit/>
          </a:bodyPr>
          <a:lstStyle/>
          <a:p>
            <a:pPr algn="l"/>
            <a:r>
              <a:rPr sz="1800" b="1" i="0">
                <a:solidFill>
                  <a:srgbClr val="0284C7"/>
                </a:solidFill>
                <a:latin typeface="Calibri"/>
              </a:rPr>
              <a:t>Fair by design</a:t>
            </a:r>
          </a:p>
        </p:txBody>
      </p:sp>
      <p:sp>
        <p:nvSpPr>
          <p:cNvPr id="10" name="TextBox 9"/>
          <p:cNvSpPr txBox="1"/>
          <p:nvPr/>
        </p:nvSpPr>
        <p:spPr>
          <a:xfrm>
            <a:off x="4475988" y="2697480"/>
            <a:ext cx="3163824" cy="2194560"/>
          </a:xfrm>
          <a:prstGeom prst="rect">
            <a:avLst/>
          </a:prstGeom>
          <a:noFill/>
        </p:spPr>
        <p:txBody>
          <a:bodyPr wrap="square" anchor="t">
            <a:spAutoFit/>
          </a:bodyPr>
          <a:lstStyle/>
          <a:p>
            <a:pPr algn="l"/>
            <a:r>
              <a:rPr sz="1500" b="0" i="0">
                <a:solidFill>
                  <a:srgbClr val="0F172A"/>
                </a:solidFill>
                <a:latin typeface="Calibri"/>
              </a:rPr>
              <a:t>Insurer + council funding subsidises the shops least able to pay. The owner owns their data.</a:t>
            </a:r>
          </a:p>
        </p:txBody>
      </p:sp>
      <p:sp>
        <p:nvSpPr>
          <p:cNvPr id="11" name="TextBox 10"/>
          <p:cNvSpPr txBox="1"/>
          <p:nvPr/>
        </p:nvSpPr>
        <p:spPr>
          <a:xfrm>
            <a:off x="4475988" y="5029200"/>
            <a:ext cx="3163824" cy="640080"/>
          </a:xfrm>
          <a:prstGeom prst="rect">
            <a:avLst/>
          </a:prstGeom>
          <a:noFill/>
        </p:spPr>
        <p:txBody>
          <a:bodyPr wrap="square" anchor="t">
            <a:spAutoFit/>
          </a:bodyPr>
          <a:lstStyle/>
          <a:p>
            <a:pPr algn="l"/>
            <a:r>
              <a:rPr sz="1200" b="0" i="1">
                <a:solidFill>
                  <a:srgbClr val="475569"/>
                </a:solidFill>
                <a:latin typeface="Calibri"/>
              </a:rPr>
              <a:t>a warning you need resources to act on is regressive</a:t>
            </a:r>
          </a:p>
        </p:txBody>
      </p:sp>
      <p:sp>
        <p:nvSpPr>
          <p:cNvPr id="12" name="Rounded Rectangle 11"/>
          <p:cNvSpPr/>
          <p:nvPr/>
        </p:nvSpPr>
        <p:spPr>
          <a:xfrm>
            <a:off x="8001000" y="1645920"/>
            <a:ext cx="3566160" cy="41148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02168" y="1828800"/>
            <a:ext cx="3163824" cy="731520"/>
          </a:xfrm>
          <a:prstGeom prst="rect">
            <a:avLst/>
          </a:prstGeom>
          <a:noFill/>
        </p:spPr>
        <p:txBody>
          <a:bodyPr wrap="square" anchor="t">
            <a:spAutoFit/>
          </a:bodyPr>
          <a:lstStyle/>
          <a:p>
            <a:pPr algn="l"/>
            <a:r>
              <a:rPr sz="1800" b="1" i="0">
                <a:solidFill>
                  <a:srgbClr val="0284C7"/>
                </a:solidFill>
                <a:latin typeface="Calibri"/>
              </a:rPr>
              <a:t>Consequences we designed against</a:t>
            </a:r>
          </a:p>
        </p:txBody>
      </p:sp>
      <p:sp>
        <p:nvSpPr>
          <p:cNvPr id="14" name="TextBox 13"/>
          <p:cNvSpPr txBox="1"/>
          <p:nvPr/>
        </p:nvSpPr>
        <p:spPr>
          <a:xfrm>
            <a:off x="8202168" y="2697480"/>
            <a:ext cx="3163824" cy="2194560"/>
          </a:xfrm>
          <a:prstGeom prst="rect">
            <a:avLst/>
          </a:prstGeom>
          <a:noFill/>
        </p:spPr>
        <p:txBody>
          <a:bodyPr wrap="square" anchor="t">
            <a:spAutoFit/>
          </a:bodyPr>
          <a:lstStyle/>
          <a:p>
            <a:pPr algn="l"/>
            <a:r>
              <a:rPr sz="1500" b="0" i="0">
                <a:solidFill>
                  <a:srgbClr val="0F172A"/>
                </a:solidFill>
                <a:latin typeface="Calibri"/>
              </a:rPr>
              <a:t>Redlining → we sell resilience, not risk-scoring for exclusion. Digital divide → SMS + paper. Alert fatigue → tiered debounce + owner in control.</a:t>
            </a:r>
          </a:p>
        </p:txBody>
      </p:sp>
      <p:sp>
        <p:nvSpPr>
          <p:cNvPr id="15" name="TextBox 14"/>
          <p:cNvSpPr txBox="1"/>
          <p:nvPr/>
        </p:nvSpPr>
        <p:spPr>
          <a:xfrm>
            <a:off x="8202168" y="5029200"/>
            <a:ext cx="3163824" cy="640080"/>
          </a:xfrm>
          <a:prstGeom prst="rect">
            <a:avLst/>
          </a:prstGeom>
          <a:noFill/>
        </p:spPr>
        <p:txBody>
          <a:bodyPr wrap="square" anchor="t">
            <a:spAutoFit/>
          </a:bodyPr>
          <a:lstStyle/>
          <a:p>
            <a:pPr algn="l"/>
            <a:r>
              <a:rPr sz="1200" b="0" i="1">
                <a:solidFill>
                  <a:srgbClr val="475569"/>
                </a:solidFill>
                <a:latin typeface="Calibri"/>
              </a:rPr>
              <a:t>a holistic lens anticipates the harm, not just the good</a:t>
            </a:r>
          </a:p>
        </p:txBody>
      </p:sp>
      <p:sp>
        <p:nvSpPr>
          <p:cNvPr id="16" name="TextBox 15"/>
          <p:cNvSpPr txBox="1"/>
          <p:nvPr/>
        </p:nvSpPr>
        <p:spPr>
          <a:xfrm>
            <a:off x="548640" y="6446520"/>
            <a:ext cx="11091672" cy="320040"/>
          </a:xfrm>
          <a:prstGeom prst="rect">
            <a:avLst/>
          </a:prstGeom>
          <a:noFill/>
        </p:spPr>
        <p:txBody>
          <a:bodyPr wrap="square" anchor="t">
            <a:spAutoFit/>
          </a:bodyPr>
          <a:lstStyle/>
          <a:p>
            <a:pPr algn="l"/>
            <a:r>
              <a:rPr sz="1100" b="0" i="0">
                <a:solidFill>
                  <a:srgbClr val="475569"/>
                </a:solidFill>
                <a:latin typeface="Calibri"/>
              </a:rPr>
              <a:t>BanjirKawan · Climate Systems Hackathon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1672" cy="822960"/>
          </a:xfrm>
          <a:prstGeom prst="rect">
            <a:avLst/>
          </a:prstGeom>
          <a:noFill/>
        </p:spPr>
        <p:txBody>
          <a:bodyPr wrap="square" anchor="t">
            <a:spAutoFit/>
          </a:bodyPr>
          <a:lstStyle/>
          <a:p>
            <a:pPr algn="l"/>
            <a:r>
              <a:rPr sz="4000" b="1" i="0">
                <a:solidFill>
                  <a:srgbClr val="0F172A"/>
                </a:solidFill>
                <a:latin typeface="Calibri"/>
              </a:rPr>
              <a:t>Same monsoon. Same last-metre gap. Same fix.</a:t>
            </a:r>
          </a:p>
        </p:txBody>
      </p:sp>
      <p:sp>
        <p:nvSpPr>
          <p:cNvPr id="4" name="Rounded Rectangle 3"/>
          <p:cNvSpPr/>
          <p:nvPr/>
        </p:nvSpPr>
        <p:spPr>
          <a:xfrm>
            <a:off x="548640" y="1828800"/>
            <a:ext cx="2468880" cy="73152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Shah Alam</a:t>
            </a:r>
          </a:p>
        </p:txBody>
      </p:sp>
      <p:sp>
        <p:nvSpPr>
          <p:cNvPr id="5" name="Rounded Rectangle 4"/>
          <p:cNvSpPr/>
          <p:nvPr/>
        </p:nvSpPr>
        <p:spPr>
          <a:xfrm>
            <a:off x="3319272" y="1828800"/>
            <a:ext cx="2468880" cy="73152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Johor</a:t>
            </a:r>
          </a:p>
        </p:txBody>
      </p:sp>
      <p:sp>
        <p:nvSpPr>
          <p:cNvPr id="6" name="Rounded Rectangle 5"/>
          <p:cNvSpPr/>
          <p:nvPr/>
        </p:nvSpPr>
        <p:spPr>
          <a:xfrm>
            <a:off x="6089903" y="1828800"/>
            <a:ext cx="2468880" cy="73152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Jakarta</a:t>
            </a:r>
          </a:p>
        </p:txBody>
      </p:sp>
      <p:sp>
        <p:nvSpPr>
          <p:cNvPr id="7" name="Rounded Rectangle 6"/>
          <p:cNvSpPr/>
          <p:nvPr/>
        </p:nvSpPr>
        <p:spPr>
          <a:xfrm>
            <a:off x="8860536" y="1828800"/>
            <a:ext cx="2468880" cy="731520"/>
          </a:xfrm>
          <a:prstGeom prst="roundRect">
            <a:avLst>
              <a:gd name="adj" fmla="val 6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Medan / Bukit Lawang</a:t>
            </a:r>
          </a:p>
        </p:txBody>
      </p:sp>
      <p:sp>
        <p:nvSpPr>
          <p:cNvPr id="8" name="TextBox 7"/>
          <p:cNvSpPr txBox="1"/>
          <p:nvPr/>
        </p:nvSpPr>
        <p:spPr>
          <a:xfrm>
            <a:off x="548640" y="2743200"/>
            <a:ext cx="11091672" cy="457200"/>
          </a:xfrm>
          <a:prstGeom prst="rect">
            <a:avLst/>
          </a:prstGeom>
          <a:noFill/>
        </p:spPr>
        <p:txBody>
          <a:bodyPr wrap="square" anchor="t">
            <a:spAutoFit/>
          </a:bodyPr>
          <a:lstStyle/>
          <a:p>
            <a:pPr algn="ctr"/>
            <a:r>
              <a:rPr sz="1500" b="0" i="0">
                <a:solidFill>
                  <a:srgbClr val="475569"/>
                </a:solidFill>
                <a:latin typeface="Calibri"/>
              </a:rPr>
              <a:t>Same monsoon, same last-metre gap, same fix, same three payers.</a:t>
            </a:r>
          </a:p>
        </p:txBody>
      </p:sp>
      <p:sp>
        <p:nvSpPr>
          <p:cNvPr id="9" name="TextBox 8"/>
          <p:cNvSpPr txBox="1"/>
          <p:nvPr/>
        </p:nvSpPr>
        <p:spPr>
          <a:xfrm>
            <a:off x="914400" y="3566160"/>
            <a:ext cx="10360152" cy="1463040"/>
          </a:xfrm>
          <a:prstGeom prst="rect">
            <a:avLst/>
          </a:prstGeom>
          <a:noFill/>
        </p:spPr>
        <p:txBody>
          <a:bodyPr wrap="square" anchor="t">
            <a:spAutoFit/>
          </a:bodyPr>
          <a:lstStyle/>
          <a:p>
            <a:pPr algn="ctr"/>
            <a:r>
              <a:rPr sz="3000" b="1" i="0">
                <a:solidFill>
                  <a:srgbClr val="0284C7"/>
                </a:solidFill>
                <a:latin typeface="Calibri"/>
              </a:rPr>
              <a:t>“Every flood warning becomes a survival plan — and every survival plan becomes claim evidence.”</a:t>
            </a:r>
          </a:p>
        </p:txBody>
      </p:sp>
      <p:sp>
        <p:nvSpPr>
          <p:cNvPr id="10" name="TextBox 9"/>
          <p:cNvSpPr txBox="1"/>
          <p:nvPr/>
        </p:nvSpPr>
        <p:spPr>
          <a:xfrm>
            <a:off x="548640" y="5303520"/>
            <a:ext cx="11091672" cy="457200"/>
          </a:xfrm>
          <a:prstGeom prst="rect">
            <a:avLst/>
          </a:prstGeom>
          <a:noFill/>
        </p:spPr>
        <p:txBody>
          <a:bodyPr wrap="square" anchor="t">
            <a:spAutoFit/>
          </a:bodyPr>
          <a:lstStyle/>
          <a:p>
            <a:pPr algn="ctr"/>
            <a:r>
              <a:rPr sz="2000" b="0" i="0">
                <a:solidFill>
                  <a:srgbClr val="475569"/>
                </a:solidFill>
                <a:latin typeface="Calibri"/>
              </a:rPr>
              <a:t>BanjirKawan · 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