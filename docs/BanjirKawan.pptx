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speech on the title — go straight into the hook on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December 2021. Kak Ros runs a kedai runcit in Taman Sri Muda. The government's river station — two-point-nine kilometres away — crossed WARNING at two in the afternoon. The warning was published. She lost forty thousand ringgit anyway. Not because the warning didn't exist — because nobody translated 'river at warning' into her freezer, her rice sacks, her next three hours. The brief asks us to keep one place running when the weather turns bad. We picked the flood-prone kedai — and we found why the warnings already there don't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mapped the system. Rain feeds rivers; Malaysia has world-class telemetry — around two hundred live river stations with published danger thresholds. That data reaches an agency dashboard — and then it stops. Between the river gauge and the shop floor is a gap we call the last metre. Everything upstream is solved and expensive. Everything downstream — a flooded shop, a denied claim, a panic loan — flows from this one broken link. On the iceberg: the event is a flooded shop; the pattern is the same shops flooding every monsoon despite warnings; the structure is warnings that are river-centric with no shop-level translation and no evidence trail; the mental model is 'banjir is fate.' The brief's own question is 'what if floods double?' — they will, and every extra flood widens exactly this gap. So the last metre is our intervention point: the highest-leverage, lowest-cost place in the whole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a flood isn't water, it's money. The chain: weather event, what's hit, effect, cost. Water reaches her floor-level freezer and stock and triggers all four money effects at once — damaged goods, lost sales while she's shut, cleanup costs, and a costlier loan because with no evidence her claim is denied. December 2021 was six-point-one billion ringgit nationally. Every ringgit started as a shop like hers — and that RM 6.1 billion is the market we're addressing.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BanjirKawan. The design principle answers the brief's own systems angle — 'the fix needs power, phones and roads too' — so the AI is never in the storm path. On a dry day, AI vision turns five phone photos into a risk map of every asset — its height off the floor, its ringgit value — and the owner confirms it, so nothing is hallucinated. We pre-compute tiered action playbooks and cache them. When the flood comes, the alert path is dumb, deterministic code — threshold, cache lookup, send. And after the flood, five photos become an itemised claim report whose evidence is the river authority's own telemetry.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isn't a concept — we've built and deployed it. It's monitoring 301 real river stations, it's already caught two real escalations this week, and here's a warning firing to a shop owner's phone and the action ticking off, live. Built product, real data — that de-risks everything I'm about to say about the business.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It's B2B2C, and the systems view hands us three payers — and the shop is the smallest of them. One, insurers and takaful — this is the anchor. A completed checklist is a claim that never happens; a verified, telemetry-backed report is a claim that costs minutes instead of adjuster-weeks. We sell risk reduction and faster, cheaper claims — priced per policy or per claim avoided. Two, state and local councils — flood resilience for their SMEs at software cost, a whole district for a rounding error in a disaster budget. Three, the kedai, freemium at nineteen ringgit a month. And the economics are the point: onboarding uses one AI call on a dry day, and every storm-time alert after that is a database lookup and one message — the marginal cost per shop per flood is effectively zero. So it scales to the whole six-point-one-billion problem without cost scaling with it. And it compounds: every shop builds a data moat — site graphs and behavioural data no competitor and no government dashboard has. We go to market through one takaful partner and one council pilot — a single flood-prone street, measured against the street next to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we measure impact, not adjectives — these are pulled live from our running system: RM 10,600 to 22,200 protected in a single event, a three-hour-twelve-minute warning window, 83% of actions completed, first action in 90 seconds, and a claim report produced in four minutes versus weeks by hand. Those are the numbers a takaful actuary and a council both underwrite against.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make this a resilient system, not just an app. Feedback loops: every completed checklist teaches us which actions owners actually take — a balancing loop that tightens the playbook each monsoon; every claim we get paid builds the trust that brings the next shop in — a reinforcing loop. It gets smarter and bigger from use. Designed for the worst day, not the average: feed dies, a watchdog tells every shop to treat heavy rain as a warning; network dies, the earliest tier already fired hours before the water, and there's a laminated plan on the wall. That's the brief's power-phones-roads point answered with three channels — Telegram, SMS, and paper. No single point of failure decides whether Kak Ros 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place. One broken link — the last metre. One intervention, and we've already built it, deployed it, and put a business around it. Every flood warning becomes a shop's personal survival plan, and every survival plan becomes its claim evidence. The rivers are already telling us. BanjirKawan makes sure Kak Ros hears it in time — and gets paid after. Terima kasih.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1091672" cy="1097280"/>
          </a:xfrm>
          <a:prstGeom prst="rect">
            <a:avLst/>
          </a:prstGeom>
          <a:noFill/>
        </p:spPr>
        <p:txBody>
          <a:bodyPr wrap="square" anchor="t">
            <a:spAutoFit/>
          </a:bodyPr>
          <a:lstStyle/>
          <a:p>
            <a:pPr algn="ctr"/>
            <a:r>
              <a:rPr sz="6000" b="1" i="0">
                <a:solidFill>
                  <a:srgbClr val="0284C7"/>
                </a:solidFill>
                <a:latin typeface="Calibri"/>
              </a:rPr>
              <a:t>BanjirKawan</a:t>
            </a:r>
          </a:p>
        </p:txBody>
      </p:sp>
      <p:sp>
        <p:nvSpPr>
          <p:cNvPr id="4" name="TextBox 3"/>
          <p:cNvSpPr txBox="1"/>
          <p:nvPr/>
        </p:nvSpPr>
        <p:spPr>
          <a:xfrm>
            <a:off x="1371600" y="3611880"/>
            <a:ext cx="9445752" cy="822960"/>
          </a:xfrm>
          <a:prstGeom prst="rect">
            <a:avLst/>
          </a:prstGeom>
          <a:noFill/>
        </p:spPr>
        <p:txBody>
          <a:bodyPr wrap="square" anchor="t">
            <a:spAutoFit/>
          </a:bodyPr>
          <a:lstStyle/>
          <a:p>
            <a:pPr algn="ctr"/>
            <a:r>
              <a:rPr sz="2200" b="0" i="1">
                <a:solidFill>
                  <a:srgbClr val="475569"/>
                </a:solidFill>
                <a:latin typeface="Calibri"/>
              </a:rPr>
              <a:t>Turning flood warnings into shop-level survival plans — and survival plans into claim evidence.</a:t>
            </a:r>
          </a:p>
        </p:txBody>
      </p:sp>
      <p:sp>
        <p:nvSpPr>
          <p:cNvPr id="5" name="TextBox 4"/>
          <p:cNvSpPr txBox="1"/>
          <p:nvPr/>
        </p:nvSpPr>
        <p:spPr>
          <a:xfrm>
            <a:off x="1371600" y="4572000"/>
            <a:ext cx="9445752" cy="457200"/>
          </a:xfrm>
          <a:prstGeom prst="rect">
            <a:avLst/>
          </a:prstGeom>
          <a:noFill/>
        </p:spPr>
        <p:txBody>
          <a:bodyPr wrap="square" anchor="t">
            <a:spAutoFit/>
          </a:bodyPr>
          <a:lstStyle/>
          <a:p>
            <a:pPr algn="ctr"/>
            <a:r>
              <a:rPr sz="1500" b="0" i="0">
                <a:solidFill>
                  <a:srgbClr val="475569"/>
                </a:solidFill>
                <a:latin typeface="Calibri"/>
              </a:rPr>
              <a:t>Problem 1  ·  Team of 3 — [Name], [Name],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The warning existed. It never reached her shop floor.</a:t>
            </a:r>
          </a:p>
        </p:txBody>
      </p:sp>
      <p:sp>
        <p:nvSpPr>
          <p:cNvPr id="4" name="Rounded Rectangle 3"/>
          <p:cNvSpPr/>
          <p:nvPr/>
        </p:nvSpPr>
        <p:spPr>
          <a:xfrm>
            <a:off x="548640" y="1554480"/>
            <a:ext cx="5120640" cy="40233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4389120" cy="457200"/>
          </a:xfrm>
          <a:prstGeom prst="rect">
            <a:avLst/>
          </a:prstGeom>
          <a:noFill/>
        </p:spPr>
        <p:txBody>
          <a:bodyPr wrap="square" anchor="t">
            <a:spAutoFit/>
          </a:bodyPr>
          <a:lstStyle/>
          <a:p>
            <a:pPr algn="l"/>
            <a:r>
              <a:rPr sz="2600" b="1" i="0">
                <a:solidFill>
                  <a:srgbClr val="0F172A"/>
                </a:solidFill>
                <a:latin typeface="Calibri"/>
              </a:rPr>
              <a:t>Kak Ros</a:t>
            </a:r>
          </a:p>
        </p:txBody>
      </p:sp>
      <p:sp>
        <p:nvSpPr>
          <p:cNvPr id="6" name="TextBox 5"/>
          <p:cNvSpPr txBox="1"/>
          <p:nvPr/>
        </p:nvSpPr>
        <p:spPr>
          <a:xfrm>
            <a:off x="914400" y="2468880"/>
            <a:ext cx="4389120" cy="365760"/>
          </a:xfrm>
          <a:prstGeom prst="rect">
            <a:avLst/>
          </a:prstGeom>
          <a:noFill/>
        </p:spPr>
        <p:txBody>
          <a:bodyPr wrap="square" anchor="t">
            <a:spAutoFit/>
          </a:bodyPr>
          <a:lstStyle/>
          <a:p>
            <a:pPr algn="l"/>
            <a:r>
              <a:rPr sz="1800" b="0" i="0">
                <a:solidFill>
                  <a:srgbClr val="475569"/>
                </a:solidFill>
                <a:latin typeface="Calibri"/>
              </a:rPr>
              <a:t>kedai runcit · Taman Sri Muda</a:t>
            </a:r>
          </a:p>
        </p:txBody>
      </p:sp>
      <p:sp>
        <p:nvSpPr>
          <p:cNvPr id="7" name="TextBox 6"/>
          <p:cNvSpPr txBox="1"/>
          <p:nvPr/>
        </p:nvSpPr>
        <p:spPr>
          <a:xfrm>
            <a:off x="914400" y="3200400"/>
            <a:ext cx="4389120" cy="1005840"/>
          </a:xfrm>
          <a:prstGeom prst="rect">
            <a:avLst/>
          </a:prstGeom>
          <a:noFill/>
        </p:spPr>
        <p:txBody>
          <a:bodyPr wrap="square" anchor="t">
            <a:spAutoFit/>
          </a:bodyPr>
          <a:lstStyle/>
          <a:p>
            <a:pPr algn="ctr"/>
            <a:r>
              <a:rPr sz="5400" b="1" i="0">
                <a:solidFill>
                  <a:srgbClr val="DC2626"/>
                </a:solidFill>
                <a:latin typeface="Calibri"/>
              </a:rPr>
              <a:t>−RM 40,000</a:t>
            </a:r>
          </a:p>
        </p:txBody>
      </p:sp>
      <p:sp>
        <p:nvSpPr>
          <p:cNvPr id="8" name="TextBox 7"/>
          <p:cNvSpPr txBox="1"/>
          <p:nvPr/>
        </p:nvSpPr>
        <p:spPr>
          <a:xfrm>
            <a:off x="914400" y="4343400"/>
            <a:ext cx="4389120" cy="365760"/>
          </a:xfrm>
          <a:prstGeom prst="rect">
            <a:avLst/>
          </a:prstGeom>
          <a:noFill/>
        </p:spPr>
        <p:txBody>
          <a:bodyPr wrap="square" anchor="t">
            <a:spAutoFit/>
          </a:bodyPr>
          <a:lstStyle/>
          <a:p>
            <a:pPr algn="ctr"/>
            <a:r>
              <a:rPr sz="1600" b="0" i="0">
                <a:solidFill>
                  <a:srgbClr val="475569"/>
                </a:solidFill>
                <a:latin typeface="Calibri"/>
              </a:rPr>
              <a:t>December 2021</a:t>
            </a:r>
          </a:p>
        </p:txBody>
      </p:sp>
      <p:sp>
        <p:nvSpPr>
          <p:cNvPr id="9" name="TextBox 8"/>
          <p:cNvSpPr txBox="1"/>
          <p:nvPr/>
        </p:nvSpPr>
        <p:spPr>
          <a:xfrm>
            <a:off x="6126480" y="1783080"/>
            <a:ext cx="5394960" cy="640080"/>
          </a:xfrm>
          <a:prstGeom prst="rect">
            <a:avLst/>
          </a:prstGeom>
          <a:noFill/>
        </p:spPr>
        <p:txBody>
          <a:bodyPr wrap="square" anchor="t">
            <a:spAutoFit/>
          </a:bodyPr>
          <a:lstStyle/>
          <a:p>
            <a:pPr algn="l"/>
            <a:r>
              <a:rPr sz="2400" b="0" i="0">
                <a:solidFill>
                  <a:srgbClr val="0F172A"/>
                </a:solidFill>
                <a:latin typeface="Calibri"/>
              </a:rPr>
              <a:t>1   The warning was published.</a:t>
            </a:r>
          </a:p>
        </p:txBody>
      </p:sp>
      <p:sp>
        <p:nvSpPr>
          <p:cNvPr id="10" name="TextBox 9"/>
          <p:cNvSpPr txBox="1"/>
          <p:nvPr/>
        </p:nvSpPr>
        <p:spPr>
          <a:xfrm>
            <a:off x="6126480" y="2697480"/>
            <a:ext cx="5394960" cy="640080"/>
          </a:xfrm>
          <a:prstGeom prst="rect">
            <a:avLst/>
          </a:prstGeom>
          <a:noFill/>
        </p:spPr>
        <p:txBody>
          <a:bodyPr wrap="square" anchor="t">
            <a:spAutoFit/>
          </a:bodyPr>
          <a:lstStyle/>
          <a:p>
            <a:pPr algn="l"/>
            <a:r>
              <a:rPr sz="2400" b="0" i="0">
                <a:solidFill>
                  <a:srgbClr val="0F172A"/>
                </a:solidFill>
                <a:latin typeface="Calibri"/>
              </a:rPr>
              <a:t>2   It reached an agency dashboard.</a:t>
            </a:r>
          </a:p>
        </p:txBody>
      </p:sp>
      <p:sp>
        <p:nvSpPr>
          <p:cNvPr id="11" name="TextBox 10"/>
          <p:cNvSpPr txBox="1"/>
          <p:nvPr/>
        </p:nvSpPr>
        <p:spPr>
          <a:xfrm>
            <a:off x="6126480" y="3611880"/>
            <a:ext cx="5394960" cy="640080"/>
          </a:xfrm>
          <a:prstGeom prst="rect">
            <a:avLst/>
          </a:prstGeom>
          <a:noFill/>
        </p:spPr>
        <p:txBody>
          <a:bodyPr wrap="square" anchor="t">
            <a:spAutoFit/>
          </a:bodyPr>
          <a:lstStyle/>
          <a:p>
            <a:pPr algn="l"/>
            <a:r>
              <a:rPr sz="2400" b="1" i="0">
                <a:solidFill>
                  <a:srgbClr val="DC2626"/>
                </a:solidFill>
                <a:latin typeface="Calibri"/>
              </a:rPr>
              <a:t>3   It never reached her shop floor.</a:t>
            </a:r>
          </a:p>
        </p:txBody>
      </p:sp>
      <p:sp>
        <p:nvSpPr>
          <p:cNvPr id="12" name="Rectangle 11"/>
          <p:cNvSpPr/>
          <p:nvPr/>
        </p:nvSpPr>
        <p:spPr>
          <a:xfrm>
            <a:off x="548640" y="5852160"/>
            <a:ext cx="11091672" cy="45720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i="1">
                <a:solidFill>
                  <a:srgbClr val="FFFFFF"/>
                </a:solidFill>
                <a:latin typeface="Calibri"/>
              </a:rPr>
              <a:t>“A warning only helps if people can act.”</a:t>
            </a:r>
          </a:p>
        </p:txBody>
      </p:sp>
      <p:sp>
        <p:nvSpPr>
          <p:cNvPr id="13" name="TextBox 12"/>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One broken link — the last metre</a:t>
            </a:r>
          </a:p>
        </p:txBody>
      </p:sp>
      <p:sp>
        <p:nvSpPr>
          <p:cNvPr id="4" name="Rounded Rectangle 3"/>
          <p:cNvSpPr/>
          <p:nvPr/>
        </p:nvSpPr>
        <p:spPr>
          <a:xfrm>
            <a:off x="548640" y="2011680"/>
            <a:ext cx="10972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Rain</a:t>
            </a:r>
          </a:p>
        </p:txBody>
      </p:sp>
      <p:sp>
        <p:nvSpPr>
          <p:cNvPr id="5" name="Rounded Rectangle 4"/>
          <p:cNvSpPr/>
          <p:nvPr/>
        </p:nvSpPr>
        <p:spPr>
          <a:xfrm>
            <a:off x="1828800" y="2011680"/>
            <a:ext cx="118872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Rivers</a:t>
            </a:r>
          </a:p>
        </p:txBody>
      </p:sp>
      <p:sp>
        <p:nvSpPr>
          <p:cNvPr id="6" name="Rounded Rectangle 5"/>
          <p:cNvSpPr/>
          <p:nvPr/>
        </p:nvSpPr>
        <p:spPr>
          <a:xfrm>
            <a:off x="3200400" y="2011680"/>
            <a:ext cx="237744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JPS telemetry</a:t>
            </a:r>
          </a:p>
          <a:p>
            <a:pPr algn="ctr"/>
            <a:r>
              <a:rPr sz="1400" b="1" i="0">
                <a:solidFill>
                  <a:srgbClr val="FFFFFF"/>
                </a:solidFill>
                <a:latin typeface="Calibri"/>
              </a:rPr>
              <a:t>~200 stations · thresholds</a:t>
            </a:r>
          </a:p>
        </p:txBody>
      </p:sp>
      <p:sp>
        <p:nvSpPr>
          <p:cNvPr id="7" name="Rounded Rectangle 6"/>
          <p:cNvSpPr/>
          <p:nvPr/>
        </p:nvSpPr>
        <p:spPr>
          <a:xfrm>
            <a:off x="5760720" y="2011680"/>
            <a:ext cx="182880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Agency dashboard</a:t>
            </a:r>
          </a:p>
        </p:txBody>
      </p:sp>
      <p:cxnSp>
        <p:nvCxnSpPr>
          <p:cNvPr id="8" name="Connector 7"/>
          <p:cNvCxnSpPr/>
          <p:nvPr/>
        </p:nvCxnSpPr>
        <p:spPr>
          <a:xfrm>
            <a:off x="1645920" y="2377440"/>
            <a:ext cx="182880" cy="0"/>
          </a:xfrm>
          <a:prstGeom prst="bentConnector3">
            <a:avLst/>
          </a:prstGeom>
          <a:ln w="25400">
            <a:solidFill>
              <a:srgbClr val="0EA5E9"/>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17520" y="2377440"/>
            <a:ext cx="182880" cy="0"/>
          </a:xfrm>
          <a:prstGeom prst="bentConnector3">
            <a:avLst/>
          </a:prstGeom>
          <a:ln w="25400">
            <a:solidFill>
              <a:srgbClr val="0EA5E9"/>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577840" y="2377440"/>
            <a:ext cx="182880" cy="0"/>
          </a:xfrm>
          <a:prstGeom prst="bentConnector3">
            <a:avLst/>
          </a:prstGeom>
          <a:ln w="25400">
            <a:solidFill>
              <a:srgbClr val="0EA5E9"/>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79" y="1371600"/>
            <a:ext cx="2194560" cy="457200"/>
          </a:xfrm>
          <a:prstGeom prst="rect">
            <a:avLst/>
          </a:prstGeom>
          <a:noFill/>
        </p:spPr>
        <p:txBody>
          <a:bodyPr wrap="square" anchor="t">
            <a:spAutoFit/>
          </a:bodyPr>
          <a:lstStyle/>
          <a:p>
            <a:pPr algn="ctr"/>
            <a:r>
              <a:rPr sz="1500" b="1" i="0">
                <a:solidFill>
                  <a:srgbClr val="DC2626"/>
                </a:solidFill>
                <a:latin typeface="Calibri"/>
              </a:rPr>
              <a:t>THE LAST METRE</a:t>
            </a:r>
          </a:p>
        </p:txBody>
      </p:sp>
      <p:cxnSp>
        <p:nvCxnSpPr>
          <p:cNvPr id="12" name="Connector 11"/>
          <p:cNvCxnSpPr/>
          <p:nvPr/>
        </p:nvCxnSpPr>
        <p:spPr>
          <a:xfrm>
            <a:off x="7635240" y="2377440"/>
            <a:ext cx="731520" cy="0"/>
          </a:xfrm>
          <a:prstGeom prst="bentConnector3">
            <a:avLst/>
          </a:prstGeom>
          <a:ln w="44450">
            <a:solidFill>
              <a:srgbClr val="DC2626"/>
            </a:solidFill>
            <a:tailEnd type="triangle"/>
            <a:prstDash val="dash"/>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452360" y="1783080"/>
            <a:ext cx="2286000" cy="1234440"/>
          </a:xfrm>
          <a:prstGeom prst="ellipse">
            <a:avLst/>
          </a:prstGeom>
          <a:noFill/>
          <a:ln w="3175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966960" y="182880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Shop floor</a:t>
            </a:r>
          </a:p>
        </p:txBody>
      </p:sp>
      <p:sp>
        <p:nvSpPr>
          <p:cNvPr id="15" name="Rounded Rectangle 14"/>
          <p:cNvSpPr/>
          <p:nvPr/>
        </p:nvSpPr>
        <p:spPr>
          <a:xfrm>
            <a:off x="9966960" y="265176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Owner action</a:t>
            </a:r>
          </a:p>
        </p:txBody>
      </p:sp>
      <p:cxnSp>
        <p:nvCxnSpPr>
          <p:cNvPr id="16" name="Connector 15"/>
          <p:cNvCxnSpPr/>
          <p:nvPr/>
        </p:nvCxnSpPr>
        <p:spPr>
          <a:xfrm>
            <a:off x="10881360" y="2468879"/>
            <a:ext cx="0" cy="182881"/>
          </a:xfrm>
          <a:prstGeom prst="bentConnector3">
            <a:avLst/>
          </a:prstGeom>
          <a:ln w="2222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966960" y="347472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Damage / Claim</a:t>
            </a:r>
          </a:p>
        </p:txBody>
      </p:sp>
      <p:cxnSp>
        <p:nvCxnSpPr>
          <p:cNvPr id="18" name="Connector 17"/>
          <p:cNvCxnSpPr/>
          <p:nvPr/>
        </p:nvCxnSpPr>
        <p:spPr>
          <a:xfrm>
            <a:off x="10881360" y="3291839"/>
            <a:ext cx="0" cy="182881"/>
          </a:xfrm>
          <a:prstGeom prst="bentConnector3">
            <a:avLst/>
          </a:prstGeom>
          <a:ln w="2222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966960" y="4297680"/>
            <a:ext cx="1828800" cy="640080"/>
          </a:xfrm>
          <a:prstGeom prst="roundRect">
            <a:avLst>
              <a:gd name="adj" fmla="val 6000"/>
            </a:avLst>
          </a:prstGeom>
          <a:solidFill>
            <a:srgbClr val="E2E8F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i="0">
                <a:solidFill>
                  <a:srgbClr val="0F172A"/>
                </a:solidFill>
                <a:latin typeface="Calibri"/>
              </a:rPr>
              <a:t>Loan / Recovery</a:t>
            </a:r>
          </a:p>
        </p:txBody>
      </p:sp>
      <p:cxnSp>
        <p:nvCxnSpPr>
          <p:cNvPr id="20" name="Connector 19"/>
          <p:cNvCxnSpPr/>
          <p:nvPr/>
        </p:nvCxnSpPr>
        <p:spPr>
          <a:xfrm>
            <a:off x="10881360" y="4114800"/>
            <a:ext cx="0" cy="182880"/>
          </a:xfrm>
          <a:prstGeom prst="bentConnector3">
            <a:avLst/>
          </a:prstGeom>
          <a:ln w="22225">
            <a:solidFill>
              <a:srgbClr val="475569"/>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035040" y="5349240"/>
            <a:ext cx="5669280" cy="640080"/>
          </a:xfrm>
          <a:prstGeom prst="rect">
            <a:avLst/>
          </a:prstGeom>
          <a:noFill/>
        </p:spPr>
        <p:txBody>
          <a:bodyPr wrap="square" anchor="t">
            <a:spAutoFit/>
          </a:bodyPr>
          <a:lstStyle/>
          <a:p>
            <a:pPr algn="ctr"/>
            <a:r>
              <a:rPr sz="1800" b="1" i="0">
                <a:solidFill>
                  <a:srgbClr val="0284C7"/>
                </a:solidFill>
                <a:latin typeface="Calibri"/>
              </a:rPr>
              <a:t>Highest leverage · Lowest cost · Our intervention point</a:t>
            </a:r>
          </a:p>
        </p:txBody>
      </p:sp>
      <p:sp>
        <p:nvSpPr>
          <p:cNvPr id="22" name="TextBox 21"/>
          <p:cNvSpPr txBox="1"/>
          <p:nvPr/>
        </p:nvSpPr>
        <p:spPr>
          <a:xfrm>
            <a:off x="548640" y="3657600"/>
            <a:ext cx="3108960" cy="320040"/>
          </a:xfrm>
          <a:prstGeom prst="rect">
            <a:avLst/>
          </a:prstGeom>
          <a:noFill/>
        </p:spPr>
        <p:txBody>
          <a:bodyPr wrap="square" anchor="t">
            <a:spAutoFit/>
          </a:bodyPr>
          <a:lstStyle/>
          <a:p>
            <a:pPr algn="l"/>
            <a:r>
              <a:rPr sz="1200" b="0" i="0">
                <a:solidFill>
                  <a:srgbClr val="475569"/>
                </a:solidFill>
                <a:latin typeface="Calibri"/>
              </a:rPr>
              <a:t>Iceberg</a:t>
            </a:r>
          </a:p>
        </p:txBody>
      </p:sp>
      <p:sp>
        <p:nvSpPr>
          <p:cNvPr id="23" name="Rounded Rectangle 22"/>
          <p:cNvSpPr/>
          <p:nvPr/>
        </p:nvSpPr>
        <p:spPr>
          <a:xfrm>
            <a:off x="548640" y="4023360"/>
            <a:ext cx="3108960" cy="36576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Event</a:t>
            </a:r>
          </a:p>
        </p:txBody>
      </p:sp>
      <p:sp>
        <p:nvSpPr>
          <p:cNvPr id="24" name="Rounded Rectangle 23"/>
          <p:cNvSpPr/>
          <p:nvPr/>
        </p:nvSpPr>
        <p:spPr>
          <a:xfrm>
            <a:off x="548640" y="4443984"/>
            <a:ext cx="3108960" cy="36576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Pattern</a:t>
            </a:r>
          </a:p>
        </p:txBody>
      </p:sp>
      <p:sp>
        <p:nvSpPr>
          <p:cNvPr id="25" name="Rounded Rectangle 24"/>
          <p:cNvSpPr/>
          <p:nvPr/>
        </p:nvSpPr>
        <p:spPr>
          <a:xfrm>
            <a:off x="548640" y="4864608"/>
            <a:ext cx="3108960" cy="365760"/>
          </a:xfrm>
          <a:prstGeom prst="roundRect">
            <a:avLst>
              <a:gd name="adj" fmla="val 6000"/>
            </a:avLst>
          </a:prstGeom>
          <a:solidFill>
            <a:srgbClr val="0369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Structure</a:t>
            </a:r>
          </a:p>
        </p:txBody>
      </p:sp>
      <p:sp>
        <p:nvSpPr>
          <p:cNvPr id="26" name="Rounded Rectangle 25"/>
          <p:cNvSpPr/>
          <p:nvPr/>
        </p:nvSpPr>
        <p:spPr>
          <a:xfrm>
            <a:off x="548640" y="5285232"/>
            <a:ext cx="3108960" cy="36576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i="0">
                <a:solidFill>
                  <a:srgbClr val="FFFFFF"/>
                </a:solidFill>
                <a:latin typeface="Calibri"/>
              </a:rPr>
              <a:t>Mental model</a:t>
            </a:r>
          </a:p>
        </p:txBody>
      </p:sp>
      <p:sp>
        <p:nvSpPr>
          <p:cNvPr id="27" name="TextBox 26"/>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A flood isn't water — it's money</a:t>
            </a:r>
          </a:p>
        </p:txBody>
      </p:sp>
      <p:sp>
        <p:nvSpPr>
          <p:cNvPr id="4" name="Rounded Rectangle 3"/>
          <p:cNvSpPr/>
          <p:nvPr/>
        </p:nvSpPr>
        <p:spPr>
          <a:xfrm>
            <a:off x="548640" y="1645920"/>
            <a:ext cx="237744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Weather event</a:t>
            </a:r>
          </a:p>
        </p:txBody>
      </p:sp>
      <p:sp>
        <p:nvSpPr>
          <p:cNvPr id="5" name="Rounded Rectangle 4"/>
          <p:cNvSpPr/>
          <p:nvPr/>
        </p:nvSpPr>
        <p:spPr>
          <a:xfrm>
            <a:off x="3200400" y="1645920"/>
            <a:ext cx="219456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What's hit</a:t>
            </a:r>
          </a:p>
        </p:txBody>
      </p:sp>
      <p:sp>
        <p:nvSpPr>
          <p:cNvPr id="6" name="Rounded Rectangle 5"/>
          <p:cNvSpPr/>
          <p:nvPr/>
        </p:nvSpPr>
        <p:spPr>
          <a:xfrm>
            <a:off x="5669280" y="1645920"/>
            <a:ext cx="182880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Effect</a:t>
            </a:r>
          </a:p>
        </p:txBody>
      </p:sp>
      <p:sp>
        <p:nvSpPr>
          <p:cNvPr id="7" name="Rounded Rectangle 6"/>
          <p:cNvSpPr/>
          <p:nvPr/>
        </p:nvSpPr>
        <p:spPr>
          <a:xfrm>
            <a:off x="7772400" y="1645920"/>
            <a:ext cx="182880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Cost</a:t>
            </a:r>
          </a:p>
        </p:txBody>
      </p:sp>
      <p:cxnSp>
        <p:nvCxnSpPr>
          <p:cNvPr id="8" name="Connector 7"/>
          <p:cNvCxnSpPr/>
          <p:nvPr/>
        </p:nvCxnSpPr>
        <p:spPr>
          <a:xfrm>
            <a:off x="3017520" y="1965960"/>
            <a:ext cx="164592" cy="0"/>
          </a:xfrm>
          <a:prstGeom prst="bentConnector3">
            <a:avLst/>
          </a:prstGeom>
          <a:ln w="25400">
            <a:solidFill>
              <a:srgbClr val="0284C7"/>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440680" y="1965960"/>
            <a:ext cx="164592" cy="0"/>
          </a:xfrm>
          <a:prstGeom prst="bentConnector3">
            <a:avLst/>
          </a:prstGeom>
          <a:ln w="25400">
            <a:solidFill>
              <a:srgbClr val="0284C7"/>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589520" y="1965960"/>
            <a:ext cx="164592" cy="0"/>
          </a:xfrm>
          <a:prstGeom prst="bentConnector3">
            <a:avLst/>
          </a:prstGeom>
          <a:ln w="25400">
            <a:solidFill>
              <a:srgbClr val="0284C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971800"/>
            <a:ext cx="2331720" cy="548640"/>
          </a:xfrm>
          <a:prstGeom prst="rect">
            <a:avLst/>
          </a:prstGeom>
          <a:noFill/>
        </p:spPr>
        <p:txBody>
          <a:bodyPr wrap="square" anchor="t">
            <a:spAutoFit/>
          </a:bodyPr>
          <a:lstStyle/>
          <a:p>
            <a:pPr algn="ctr"/>
            <a:r>
              <a:rPr sz="1800" b="1" i="0">
                <a:solidFill>
                  <a:srgbClr val="0F172A"/>
                </a:solidFill>
                <a:latin typeface="Calibri"/>
              </a:rPr>
              <a:t>Damaged goods</a:t>
            </a:r>
          </a:p>
        </p:txBody>
      </p:sp>
      <p:sp>
        <p:nvSpPr>
          <p:cNvPr id="13" name="Rounded Rectangle 12"/>
          <p:cNvSpPr/>
          <p:nvPr/>
        </p:nvSpPr>
        <p:spPr>
          <a:xfrm>
            <a:off x="3250692"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7852" y="2971800"/>
            <a:ext cx="2331720" cy="548640"/>
          </a:xfrm>
          <a:prstGeom prst="rect">
            <a:avLst/>
          </a:prstGeom>
          <a:noFill/>
        </p:spPr>
        <p:txBody>
          <a:bodyPr wrap="square" anchor="t">
            <a:spAutoFit/>
          </a:bodyPr>
          <a:lstStyle/>
          <a:p>
            <a:pPr algn="ctr"/>
            <a:r>
              <a:rPr sz="1800" b="1" i="0">
                <a:solidFill>
                  <a:srgbClr val="0F172A"/>
                </a:solidFill>
                <a:latin typeface="Calibri"/>
              </a:rPr>
              <a:t>Lost sales</a:t>
            </a:r>
          </a:p>
        </p:txBody>
      </p:sp>
      <p:sp>
        <p:nvSpPr>
          <p:cNvPr id="15" name="TextBox 14"/>
          <p:cNvSpPr txBox="1"/>
          <p:nvPr/>
        </p:nvSpPr>
        <p:spPr>
          <a:xfrm>
            <a:off x="3387852" y="3520440"/>
            <a:ext cx="2331720" cy="457200"/>
          </a:xfrm>
          <a:prstGeom prst="rect">
            <a:avLst/>
          </a:prstGeom>
          <a:noFill/>
        </p:spPr>
        <p:txBody>
          <a:bodyPr wrap="square" anchor="t">
            <a:spAutoFit/>
          </a:bodyPr>
          <a:lstStyle/>
          <a:p>
            <a:pPr algn="ctr"/>
            <a:r>
              <a:rPr sz="1400" b="0" i="0">
                <a:solidFill>
                  <a:srgbClr val="475569"/>
                </a:solidFill>
                <a:latin typeface="Calibri"/>
              </a:rPr>
              <a:t>days shut</a:t>
            </a:r>
          </a:p>
        </p:txBody>
      </p:sp>
      <p:sp>
        <p:nvSpPr>
          <p:cNvPr id="16" name="Rounded Rectangle 15"/>
          <p:cNvSpPr/>
          <p:nvPr/>
        </p:nvSpPr>
        <p:spPr>
          <a:xfrm>
            <a:off x="5952744"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89904" y="2971800"/>
            <a:ext cx="2331720" cy="548640"/>
          </a:xfrm>
          <a:prstGeom prst="rect">
            <a:avLst/>
          </a:prstGeom>
          <a:noFill/>
        </p:spPr>
        <p:txBody>
          <a:bodyPr wrap="square" anchor="t">
            <a:spAutoFit/>
          </a:bodyPr>
          <a:lstStyle/>
          <a:p>
            <a:pPr algn="ctr"/>
            <a:r>
              <a:rPr sz="1800" b="1" i="0">
                <a:solidFill>
                  <a:srgbClr val="0F172A"/>
                </a:solidFill>
                <a:latin typeface="Calibri"/>
              </a:rPr>
              <a:t>Cleanup costs</a:t>
            </a:r>
          </a:p>
        </p:txBody>
      </p:sp>
      <p:sp>
        <p:nvSpPr>
          <p:cNvPr id="18" name="Rounded Rectangle 17"/>
          <p:cNvSpPr/>
          <p:nvPr/>
        </p:nvSpPr>
        <p:spPr>
          <a:xfrm>
            <a:off x="8654796" y="2743200"/>
            <a:ext cx="2606040" cy="13716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1956" y="2971800"/>
            <a:ext cx="2331720" cy="548640"/>
          </a:xfrm>
          <a:prstGeom prst="rect">
            <a:avLst/>
          </a:prstGeom>
          <a:noFill/>
        </p:spPr>
        <p:txBody>
          <a:bodyPr wrap="square" anchor="t">
            <a:spAutoFit/>
          </a:bodyPr>
          <a:lstStyle/>
          <a:p>
            <a:pPr algn="ctr"/>
            <a:r>
              <a:rPr sz="1800" b="1" i="0">
                <a:solidFill>
                  <a:srgbClr val="0F172A"/>
                </a:solidFill>
                <a:latin typeface="Calibri"/>
              </a:rPr>
              <a:t>Costlier loan</a:t>
            </a:r>
          </a:p>
        </p:txBody>
      </p:sp>
      <p:sp>
        <p:nvSpPr>
          <p:cNvPr id="20" name="TextBox 19"/>
          <p:cNvSpPr txBox="1"/>
          <p:nvPr/>
        </p:nvSpPr>
        <p:spPr>
          <a:xfrm>
            <a:off x="8791956" y="3520440"/>
            <a:ext cx="2331720" cy="457200"/>
          </a:xfrm>
          <a:prstGeom prst="rect">
            <a:avLst/>
          </a:prstGeom>
          <a:noFill/>
        </p:spPr>
        <p:txBody>
          <a:bodyPr wrap="square" anchor="t">
            <a:spAutoFit/>
          </a:bodyPr>
          <a:lstStyle/>
          <a:p>
            <a:pPr algn="ctr"/>
            <a:r>
              <a:rPr sz="1400" b="0" i="0">
                <a:solidFill>
                  <a:srgbClr val="DC2626"/>
                </a:solidFill>
                <a:latin typeface="Calibri"/>
              </a:rPr>
              <a:t>no evidence → claim denied</a:t>
            </a:r>
          </a:p>
        </p:txBody>
      </p:sp>
      <p:sp>
        <p:nvSpPr>
          <p:cNvPr id="21" name="TextBox 20"/>
          <p:cNvSpPr txBox="1"/>
          <p:nvPr/>
        </p:nvSpPr>
        <p:spPr>
          <a:xfrm>
            <a:off x="548640" y="4617720"/>
            <a:ext cx="11091672" cy="914400"/>
          </a:xfrm>
          <a:prstGeom prst="rect">
            <a:avLst/>
          </a:prstGeom>
          <a:noFill/>
        </p:spPr>
        <p:txBody>
          <a:bodyPr wrap="square" anchor="t">
            <a:spAutoFit/>
          </a:bodyPr>
          <a:lstStyle/>
          <a:p>
            <a:pPr algn="ctr"/>
            <a:r>
              <a:rPr sz="6000" b="1" i="0">
                <a:solidFill>
                  <a:srgbClr val="0F172A"/>
                </a:solidFill>
                <a:latin typeface="Calibri"/>
              </a:rPr>
              <a:t>RM 6.1 billion</a:t>
            </a:r>
          </a:p>
        </p:txBody>
      </p:sp>
      <p:sp>
        <p:nvSpPr>
          <p:cNvPr id="22" name="TextBox 21"/>
          <p:cNvSpPr txBox="1"/>
          <p:nvPr/>
        </p:nvSpPr>
        <p:spPr>
          <a:xfrm>
            <a:off x="548640" y="5715000"/>
            <a:ext cx="11091672" cy="457200"/>
          </a:xfrm>
          <a:prstGeom prst="rect">
            <a:avLst/>
          </a:prstGeom>
          <a:noFill/>
        </p:spPr>
        <p:txBody>
          <a:bodyPr wrap="square" anchor="t">
            <a:spAutoFit/>
          </a:bodyPr>
          <a:lstStyle/>
          <a:p>
            <a:pPr algn="ctr"/>
            <a:r>
              <a:rPr sz="1600" b="0" i="0">
                <a:solidFill>
                  <a:srgbClr val="475569"/>
                </a:solidFill>
                <a:latin typeface="Calibri"/>
              </a:rPr>
              <a:t>national flood losses, Dec 2021 — the market we address</a:t>
            </a:r>
          </a:p>
        </p:txBody>
      </p:sp>
      <p:sp>
        <p:nvSpPr>
          <p:cNvPr id="23" name="TextBox 22"/>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AI is never in the storm path</a:t>
            </a:r>
          </a:p>
        </p:txBody>
      </p:sp>
      <p:sp>
        <p:nvSpPr>
          <p:cNvPr id="4" name="Rounded Rectangle 3"/>
          <p:cNvSpPr/>
          <p:nvPr/>
        </p:nvSpPr>
        <p:spPr>
          <a:xfrm>
            <a:off x="548640" y="1737360"/>
            <a:ext cx="5212080" cy="2926080"/>
          </a:xfrm>
          <a:prstGeom prst="roundRect">
            <a:avLst>
              <a:gd name="adj" fmla="val 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65960"/>
            <a:ext cx="4663440" cy="457200"/>
          </a:xfrm>
          <a:prstGeom prst="rect">
            <a:avLst/>
          </a:prstGeom>
          <a:noFill/>
        </p:spPr>
        <p:txBody>
          <a:bodyPr wrap="square" anchor="t">
            <a:spAutoFit/>
          </a:bodyPr>
          <a:lstStyle/>
          <a:p>
            <a:pPr algn="l"/>
            <a:r>
              <a:rPr sz="2000" b="1" i="0">
                <a:solidFill>
                  <a:srgbClr val="0284C7"/>
                </a:solidFill>
                <a:latin typeface="Calibri"/>
              </a:rPr>
              <a:t>DRY DAY — AI thinks</a:t>
            </a:r>
          </a:p>
        </p:txBody>
      </p:sp>
      <p:sp>
        <p:nvSpPr>
          <p:cNvPr id="6" name="TextBox 5"/>
          <p:cNvSpPr txBox="1"/>
          <p:nvPr/>
        </p:nvSpPr>
        <p:spPr>
          <a:xfrm>
            <a:off x="822960" y="2560320"/>
            <a:ext cx="4663440" cy="1828800"/>
          </a:xfrm>
          <a:prstGeom prst="rect">
            <a:avLst/>
          </a:prstGeom>
          <a:noFill/>
        </p:spPr>
        <p:txBody>
          <a:bodyPr wrap="square" anchor="t">
            <a:spAutoFit/>
          </a:bodyPr>
          <a:lstStyle/>
          <a:p>
            <a:pPr algn="l"/>
            <a:r>
              <a:rPr sz="1800" b="0" i="0">
                <a:solidFill>
                  <a:srgbClr val="0F172A"/>
                </a:solidFill>
                <a:latin typeface="Calibri"/>
              </a:rPr>
              <a:t>5 photos → asset risk map → owner confirms → cached tiered playbooks</a:t>
            </a:r>
          </a:p>
        </p:txBody>
      </p:sp>
      <p:sp>
        <p:nvSpPr>
          <p:cNvPr id="7" name="Rounded Rectangle 6"/>
          <p:cNvSpPr/>
          <p:nvPr/>
        </p:nvSpPr>
        <p:spPr>
          <a:xfrm>
            <a:off x="6428232" y="1737360"/>
            <a:ext cx="5212080" cy="29260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2552" y="1965960"/>
            <a:ext cx="4663440" cy="457200"/>
          </a:xfrm>
          <a:prstGeom prst="rect">
            <a:avLst/>
          </a:prstGeom>
          <a:noFill/>
        </p:spPr>
        <p:txBody>
          <a:bodyPr wrap="square" anchor="t">
            <a:spAutoFit/>
          </a:bodyPr>
          <a:lstStyle/>
          <a:p>
            <a:pPr algn="l"/>
            <a:r>
              <a:rPr sz="2000" b="1" i="0">
                <a:solidFill>
                  <a:srgbClr val="0F172A"/>
                </a:solidFill>
                <a:latin typeface="Calibri"/>
              </a:rPr>
              <a:t>STORM DAY — dumb &amp; deterministic</a:t>
            </a:r>
          </a:p>
        </p:txBody>
      </p:sp>
      <p:sp>
        <p:nvSpPr>
          <p:cNvPr id="9" name="TextBox 8"/>
          <p:cNvSpPr txBox="1"/>
          <p:nvPr/>
        </p:nvSpPr>
        <p:spPr>
          <a:xfrm>
            <a:off x="6702552" y="2560320"/>
            <a:ext cx="4663440" cy="914400"/>
          </a:xfrm>
          <a:prstGeom prst="rect">
            <a:avLst/>
          </a:prstGeom>
          <a:noFill/>
        </p:spPr>
        <p:txBody>
          <a:bodyPr wrap="square" anchor="t">
            <a:spAutoFit/>
          </a:bodyPr>
          <a:lstStyle/>
          <a:p>
            <a:pPr algn="l"/>
            <a:r>
              <a:rPr sz="1800" b="0" i="0">
                <a:solidFill>
                  <a:srgbClr val="0F172A"/>
                </a:solidFill>
                <a:latin typeface="Calibri"/>
              </a:rPr>
              <a:t>threshold → cache lookup → send</a:t>
            </a:r>
          </a:p>
        </p:txBody>
      </p:sp>
      <p:sp>
        <p:nvSpPr>
          <p:cNvPr id="10" name="Rounded Rectangle 9"/>
          <p:cNvSpPr/>
          <p:nvPr/>
        </p:nvSpPr>
        <p:spPr>
          <a:xfrm>
            <a:off x="3108960" y="2971800"/>
            <a:ext cx="5943600" cy="64008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AI is never in the storm path</a:t>
            </a:r>
          </a:p>
        </p:txBody>
      </p:sp>
      <p:sp>
        <p:nvSpPr>
          <p:cNvPr id="11" name="Rounded Rectangle 10"/>
          <p:cNvSpPr/>
          <p:nvPr/>
        </p:nvSpPr>
        <p:spPr>
          <a:xfrm>
            <a:off x="548640" y="4937760"/>
            <a:ext cx="11091672" cy="9144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800" b="0" i="0">
                <a:solidFill>
                  <a:srgbClr val="0F172A"/>
                </a:solidFill>
                <a:latin typeface="Calibri"/>
              </a:rPr>
              <a:t>After the flood: 5 photos → claim report (evidence = river authority telemetry)</a:t>
            </a:r>
          </a:p>
        </p:txBody>
      </p:sp>
      <p:sp>
        <p:nvSpPr>
          <p:cNvPr id="12" name="TextBox 11"/>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Not a concept — deployed, on real data</a:t>
            </a:r>
          </a:p>
        </p:txBody>
      </p:sp>
      <p:sp>
        <p:nvSpPr>
          <p:cNvPr id="4" name="Rounded Rectangle 3"/>
          <p:cNvSpPr/>
          <p:nvPr/>
        </p:nvSpPr>
        <p:spPr>
          <a:xfrm>
            <a:off x="548640" y="1645920"/>
            <a:ext cx="6400800" cy="3931920"/>
          </a:xfrm>
          <a:prstGeom prst="roundRect">
            <a:avLst>
              <a:gd name="adj" fmla="val 6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i="0">
                <a:solidFill>
                  <a:srgbClr val="FFFFFF"/>
                </a:solidFill>
                <a:latin typeface="Calibri"/>
              </a:rPr>
              <a:t>[ 15–20s recording:</a:t>
            </a:r>
          </a:p>
          <a:p>
            <a:pPr algn="ctr"/>
            <a:r>
              <a:rPr sz="2000" b="0" i="0">
                <a:solidFill>
                  <a:srgbClr val="FFFFFF"/>
                </a:solidFill>
                <a:latin typeface="Calibri"/>
              </a:rPr>
              <a:t>SIMULATE FLOOD → phone buzz → checklist → dashboard tick ]</a:t>
            </a:r>
          </a:p>
        </p:txBody>
      </p:sp>
      <p:sp>
        <p:nvSpPr>
          <p:cNvPr id="5" name="TextBox 4"/>
          <p:cNvSpPr txBox="1"/>
          <p:nvPr/>
        </p:nvSpPr>
        <p:spPr>
          <a:xfrm>
            <a:off x="548640" y="5669280"/>
            <a:ext cx="6400800" cy="365760"/>
          </a:xfrm>
          <a:prstGeom prst="rect">
            <a:avLst/>
          </a:prstGeom>
          <a:noFill/>
        </p:spPr>
        <p:txBody>
          <a:bodyPr wrap="square" anchor="t">
            <a:spAutoFit/>
          </a:bodyPr>
          <a:lstStyle/>
          <a:p>
            <a:pPr algn="l"/>
            <a:r>
              <a:rPr sz="1500" b="0" i="0">
                <a:solidFill>
                  <a:srgbClr val="475569"/>
                </a:solidFill>
                <a:latin typeface="Calibri"/>
              </a:rPr>
              <a:t>301 live river stations · 2 real escalations caught this week</a:t>
            </a:r>
          </a:p>
        </p:txBody>
      </p:sp>
      <p:sp>
        <p:nvSpPr>
          <p:cNvPr id="6" name="Rounded Rectangle 5"/>
          <p:cNvSpPr/>
          <p:nvPr/>
        </p:nvSpPr>
        <p:spPr>
          <a:xfrm>
            <a:off x="7223760" y="1645920"/>
            <a:ext cx="438912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i="0">
                <a:solidFill>
                  <a:srgbClr val="0F172A"/>
                </a:solidFill>
                <a:latin typeface="Calibri"/>
              </a:rPr>
              <a:t>Live danger map</a:t>
            </a:r>
          </a:p>
        </p:txBody>
      </p:sp>
      <p:sp>
        <p:nvSpPr>
          <p:cNvPr id="7" name="TextBox 6"/>
          <p:cNvSpPr txBox="1"/>
          <p:nvPr/>
        </p:nvSpPr>
        <p:spPr>
          <a:xfrm>
            <a:off x="7223760" y="2578608"/>
            <a:ext cx="4389120" cy="274320"/>
          </a:xfrm>
          <a:prstGeom prst="rect">
            <a:avLst/>
          </a:prstGeom>
          <a:noFill/>
        </p:spPr>
        <p:txBody>
          <a:bodyPr wrap="square" anchor="t">
            <a:spAutoFit/>
          </a:bodyPr>
          <a:lstStyle/>
          <a:p>
            <a:pPr algn="l"/>
            <a:r>
              <a:rPr sz="1200" b="0" i="0">
                <a:solidFill>
                  <a:srgbClr val="475569"/>
                </a:solidFill>
                <a:latin typeface="Calibri"/>
              </a:rPr>
              <a:t>Live danger map</a:t>
            </a:r>
          </a:p>
        </p:txBody>
      </p:sp>
      <p:sp>
        <p:nvSpPr>
          <p:cNvPr id="8" name="Rounded Rectangle 7"/>
          <p:cNvSpPr/>
          <p:nvPr/>
        </p:nvSpPr>
        <p:spPr>
          <a:xfrm>
            <a:off x="7223760" y="2971800"/>
            <a:ext cx="438912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i="0">
                <a:solidFill>
                  <a:srgbClr val="0F172A"/>
                </a:solidFill>
                <a:latin typeface="Calibri"/>
              </a:rPr>
              <a:t>Claim report — evidence = JPS telemetry</a:t>
            </a:r>
          </a:p>
        </p:txBody>
      </p:sp>
      <p:sp>
        <p:nvSpPr>
          <p:cNvPr id="9" name="TextBox 8"/>
          <p:cNvSpPr txBox="1"/>
          <p:nvPr/>
        </p:nvSpPr>
        <p:spPr>
          <a:xfrm>
            <a:off x="7223760" y="3904487"/>
            <a:ext cx="4389120" cy="274320"/>
          </a:xfrm>
          <a:prstGeom prst="rect">
            <a:avLst/>
          </a:prstGeom>
          <a:noFill/>
        </p:spPr>
        <p:txBody>
          <a:bodyPr wrap="square" anchor="t">
            <a:spAutoFit/>
          </a:bodyPr>
          <a:lstStyle/>
          <a:p>
            <a:pPr algn="l"/>
            <a:r>
              <a:rPr sz="1200" b="0" i="0">
                <a:solidFill>
                  <a:srgbClr val="475569"/>
                </a:solidFill>
                <a:latin typeface="Calibri"/>
              </a:rPr>
              <a:t>Claim report — evidence = JPS telemetry</a:t>
            </a:r>
          </a:p>
        </p:txBody>
      </p:sp>
      <p:sp>
        <p:nvSpPr>
          <p:cNvPr id="10" name="Rounded Rectangle 9"/>
          <p:cNvSpPr/>
          <p:nvPr/>
        </p:nvSpPr>
        <p:spPr>
          <a:xfrm>
            <a:off x="7223760" y="4297680"/>
            <a:ext cx="4389120" cy="105156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i="0">
                <a:solidFill>
                  <a:srgbClr val="0F172A"/>
                </a:solidFill>
                <a:latin typeface="Calibri"/>
              </a:rPr>
              <a:t>Metrics dashboard</a:t>
            </a:r>
          </a:p>
        </p:txBody>
      </p:sp>
      <p:sp>
        <p:nvSpPr>
          <p:cNvPr id="11" name="TextBox 10"/>
          <p:cNvSpPr txBox="1"/>
          <p:nvPr/>
        </p:nvSpPr>
        <p:spPr>
          <a:xfrm>
            <a:off x="7223760" y="5230368"/>
            <a:ext cx="4389120" cy="274320"/>
          </a:xfrm>
          <a:prstGeom prst="rect">
            <a:avLst/>
          </a:prstGeom>
          <a:noFill/>
        </p:spPr>
        <p:txBody>
          <a:bodyPr wrap="square" anchor="t">
            <a:spAutoFit/>
          </a:bodyPr>
          <a:lstStyle/>
          <a:p>
            <a:pPr algn="l"/>
            <a:r>
              <a:rPr sz="1200" b="0" i="0">
                <a:solidFill>
                  <a:srgbClr val="475569"/>
                </a:solidFill>
                <a:latin typeface="Calibri"/>
              </a:rPr>
              <a:t>Metrics dashboard</a:t>
            </a:r>
          </a:p>
        </p:txBody>
      </p:sp>
      <p:sp>
        <p:nvSpPr>
          <p:cNvPr id="12" name="TextBox 11"/>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B2B2C — and the shop is the smallest payer</a:t>
            </a:r>
          </a:p>
        </p:txBody>
      </p:sp>
      <p:sp>
        <p:nvSpPr>
          <p:cNvPr id="4" name="Rounded Rectangle 3"/>
          <p:cNvSpPr/>
          <p:nvPr/>
        </p:nvSpPr>
        <p:spPr>
          <a:xfrm>
            <a:off x="548640" y="1645920"/>
            <a:ext cx="3657600" cy="2743200"/>
          </a:xfrm>
          <a:prstGeom prst="roundRect">
            <a:avLst>
              <a:gd name="adj" fmla="val 6000"/>
            </a:avLst>
          </a:prstGeom>
          <a:solidFill>
            <a:srgbClr val="E0F2FE"/>
          </a:solidFill>
          <a:ln w="31750">
            <a:solidFill>
              <a:srgbClr val="0284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828800"/>
            <a:ext cx="1097280" cy="320040"/>
          </a:xfrm>
          <a:prstGeom prst="roundRect">
            <a:avLst>
              <a:gd name="adj" fmla="val 6000"/>
            </a:avLst>
          </a:prstGeom>
          <a:solidFill>
            <a:srgbClr val="0284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ANCHOR</a:t>
            </a:r>
          </a:p>
        </p:txBody>
      </p:sp>
      <p:sp>
        <p:nvSpPr>
          <p:cNvPr id="6" name="TextBox 5"/>
          <p:cNvSpPr txBox="1"/>
          <p:nvPr/>
        </p:nvSpPr>
        <p:spPr>
          <a:xfrm>
            <a:off x="777240" y="2240280"/>
            <a:ext cx="3200400" cy="457200"/>
          </a:xfrm>
          <a:prstGeom prst="rect">
            <a:avLst/>
          </a:prstGeom>
          <a:noFill/>
        </p:spPr>
        <p:txBody>
          <a:bodyPr wrap="square" anchor="t">
            <a:spAutoFit/>
          </a:bodyPr>
          <a:lstStyle/>
          <a:p>
            <a:pPr algn="l"/>
            <a:r>
              <a:rPr sz="2200" b="1" i="0">
                <a:solidFill>
                  <a:srgbClr val="0284C7"/>
                </a:solidFill>
                <a:latin typeface="Calibri"/>
              </a:rPr>
              <a:t>Insurers / takaful</a:t>
            </a:r>
          </a:p>
        </p:txBody>
      </p:sp>
      <p:sp>
        <p:nvSpPr>
          <p:cNvPr id="7" name="TextBox 6"/>
          <p:cNvSpPr txBox="1"/>
          <p:nvPr/>
        </p:nvSpPr>
        <p:spPr>
          <a:xfrm>
            <a:off x="777240" y="2788920"/>
            <a:ext cx="3200400" cy="1463040"/>
          </a:xfrm>
          <a:prstGeom prst="rect">
            <a:avLst/>
          </a:prstGeom>
          <a:noFill/>
        </p:spPr>
        <p:txBody>
          <a:bodyPr wrap="square" anchor="t">
            <a:spAutoFit/>
          </a:bodyPr>
          <a:lstStyle/>
          <a:p>
            <a:pPr algn="l"/>
            <a:r>
              <a:rPr sz="1500" b="0" i="0">
                <a:solidFill>
                  <a:srgbClr val="0F172A"/>
                </a:solidFill>
                <a:latin typeface="Calibri"/>
              </a:rPr>
              <a:t>Completed checklist = claim avoided. Verified report = claim in minutes, not adjuster-weeks. Priced per policy / per claim avoided.</a:t>
            </a:r>
          </a:p>
        </p:txBody>
      </p:sp>
      <p:sp>
        <p:nvSpPr>
          <p:cNvPr id="8" name="Rounded Rectangle 7"/>
          <p:cNvSpPr/>
          <p:nvPr/>
        </p:nvSpPr>
        <p:spPr>
          <a:xfrm>
            <a:off x="4343400" y="1645920"/>
            <a:ext cx="3566160" cy="27432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108960" cy="457200"/>
          </a:xfrm>
          <a:prstGeom prst="rect">
            <a:avLst/>
          </a:prstGeom>
          <a:noFill/>
        </p:spPr>
        <p:txBody>
          <a:bodyPr wrap="square" anchor="t">
            <a:spAutoFit/>
          </a:bodyPr>
          <a:lstStyle/>
          <a:p>
            <a:pPr algn="l"/>
            <a:r>
              <a:rPr sz="2000" b="1" i="0">
                <a:solidFill>
                  <a:srgbClr val="0F172A"/>
                </a:solidFill>
                <a:latin typeface="Calibri"/>
              </a:rPr>
              <a:t>State &amp; local councils</a:t>
            </a:r>
          </a:p>
        </p:txBody>
      </p:sp>
      <p:sp>
        <p:nvSpPr>
          <p:cNvPr id="10" name="TextBox 9"/>
          <p:cNvSpPr txBox="1"/>
          <p:nvPr/>
        </p:nvSpPr>
        <p:spPr>
          <a:xfrm>
            <a:off x="4572000" y="2514600"/>
            <a:ext cx="3108960" cy="1371600"/>
          </a:xfrm>
          <a:prstGeom prst="rect">
            <a:avLst/>
          </a:prstGeom>
          <a:noFill/>
        </p:spPr>
        <p:txBody>
          <a:bodyPr wrap="square" anchor="t">
            <a:spAutoFit/>
          </a:bodyPr>
          <a:lstStyle/>
          <a:p>
            <a:pPr algn="l"/>
            <a:r>
              <a:rPr sz="1600" b="0" i="0">
                <a:solidFill>
                  <a:srgbClr val="0F172A"/>
                </a:solidFill>
                <a:latin typeface="Calibri"/>
              </a:rPr>
              <a:t>District-wide SME resilience at software cost.</a:t>
            </a:r>
          </a:p>
        </p:txBody>
      </p:sp>
      <p:sp>
        <p:nvSpPr>
          <p:cNvPr id="11" name="Rounded Rectangle 10"/>
          <p:cNvSpPr/>
          <p:nvPr/>
        </p:nvSpPr>
        <p:spPr>
          <a:xfrm>
            <a:off x="8046720" y="1645920"/>
            <a:ext cx="3593592" cy="274320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108960" cy="457200"/>
          </a:xfrm>
          <a:prstGeom prst="rect">
            <a:avLst/>
          </a:prstGeom>
          <a:noFill/>
        </p:spPr>
        <p:txBody>
          <a:bodyPr wrap="square" anchor="t">
            <a:spAutoFit/>
          </a:bodyPr>
          <a:lstStyle/>
          <a:p>
            <a:pPr algn="l"/>
            <a:r>
              <a:rPr sz="2000" b="1" i="0">
                <a:solidFill>
                  <a:srgbClr val="0F172A"/>
                </a:solidFill>
                <a:latin typeface="Calibri"/>
              </a:rPr>
              <a:t>Kedai — freemium</a:t>
            </a:r>
          </a:p>
        </p:txBody>
      </p:sp>
      <p:sp>
        <p:nvSpPr>
          <p:cNvPr id="13" name="TextBox 12"/>
          <p:cNvSpPr txBox="1"/>
          <p:nvPr/>
        </p:nvSpPr>
        <p:spPr>
          <a:xfrm>
            <a:off x="8275320" y="2468880"/>
            <a:ext cx="3108960" cy="822960"/>
          </a:xfrm>
          <a:prstGeom prst="rect">
            <a:avLst/>
          </a:prstGeom>
          <a:noFill/>
        </p:spPr>
        <p:txBody>
          <a:bodyPr wrap="square" anchor="t">
            <a:spAutoFit/>
          </a:bodyPr>
          <a:lstStyle/>
          <a:p>
            <a:pPr algn="l"/>
            <a:r>
              <a:rPr sz="1600" b="0" i="0">
                <a:solidFill>
                  <a:srgbClr val="0F172A"/>
                </a:solidFill>
                <a:latin typeface="Calibri"/>
              </a:rPr>
              <a:t>Basic alerts free. Plan + claim features paid.</a:t>
            </a:r>
          </a:p>
        </p:txBody>
      </p:sp>
      <p:sp>
        <p:nvSpPr>
          <p:cNvPr id="14" name="TextBox 13"/>
          <p:cNvSpPr txBox="1"/>
          <p:nvPr/>
        </p:nvSpPr>
        <p:spPr>
          <a:xfrm>
            <a:off x="8275320" y="3383280"/>
            <a:ext cx="3108960" cy="548640"/>
          </a:xfrm>
          <a:prstGeom prst="rect">
            <a:avLst/>
          </a:prstGeom>
          <a:noFill/>
        </p:spPr>
        <p:txBody>
          <a:bodyPr wrap="square" anchor="t">
            <a:spAutoFit/>
          </a:bodyPr>
          <a:lstStyle/>
          <a:p>
            <a:pPr algn="l"/>
            <a:r>
              <a:rPr sz="2200" b="1" i="0">
                <a:solidFill>
                  <a:srgbClr val="0284C7"/>
                </a:solidFill>
                <a:latin typeface="Calibri"/>
              </a:rPr>
              <a:t>RM 19 / month</a:t>
            </a:r>
          </a:p>
        </p:txBody>
      </p:sp>
      <p:sp>
        <p:nvSpPr>
          <p:cNvPr id="15" name="Rounded Rectangle 14"/>
          <p:cNvSpPr/>
          <p:nvPr/>
        </p:nvSpPr>
        <p:spPr>
          <a:xfrm>
            <a:off x="548640" y="4754880"/>
            <a:ext cx="3566160" cy="11887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892040"/>
            <a:ext cx="3200400" cy="457200"/>
          </a:xfrm>
          <a:prstGeom prst="rect">
            <a:avLst/>
          </a:prstGeom>
          <a:noFill/>
        </p:spPr>
        <p:txBody>
          <a:bodyPr wrap="square" anchor="t">
            <a:spAutoFit/>
          </a:bodyPr>
          <a:lstStyle/>
          <a:p>
            <a:pPr algn="l"/>
            <a:r>
              <a:rPr sz="1600" b="1" i="0">
                <a:solidFill>
                  <a:srgbClr val="0F172A"/>
                </a:solidFill>
                <a:latin typeface="Calibri"/>
              </a:rPr>
              <a:t>Marginal cost / shop / flood ≈ 0</a:t>
            </a:r>
          </a:p>
        </p:txBody>
      </p:sp>
      <p:sp>
        <p:nvSpPr>
          <p:cNvPr id="17" name="TextBox 16"/>
          <p:cNvSpPr txBox="1"/>
          <p:nvPr/>
        </p:nvSpPr>
        <p:spPr>
          <a:xfrm>
            <a:off x="731520" y="5349240"/>
            <a:ext cx="3200400" cy="548640"/>
          </a:xfrm>
          <a:prstGeom prst="rect">
            <a:avLst/>
          </a:prstGeom>
          <a:noFill/>
        </p:spPr>
        <p:txBody>
          <a:bodyPr wrap="square" anchor="t">
            <a:spAutoFit/>
          </a:bodyPr>
          <a:lstStyle/>
          <a:p>
            <a:pPr algn="l"/>
            <a:r>
              <a:rPr sz="1300" b="0" i="0">
                <a:solidFill>
                  <a:srgbClr val="475569"/>
                </a:solidFill>
                <a:latin typeface="Calibri"/>
              </a:rPr>
              <a:t>one dry-day AI call, then DB lookup + one message</a:t>
            </a:r>
          </a:p>
        </p:txBody>
      </p:sp>
      <p:sp>
        <p:nvSpPr>
          <p:cNvPr id="18" name="Rounded Rectangle 17"/>
          <p:cNvSpPr/>
          <p:nvPr/>
        </p:nvSpPr>
        <p:spPr>
          <a:xfrm>
            <a:off x="4274820" y="4754880"/>
            <a:ext cx="3566160" cy="11887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57700" y="4892040"/>
            <a:ext cx="3200400" cy="457200"/>
          </a:xfrm>
          <a:prstGeom prst="rect">
            <a:avLst/>
          </a:prstGeom>
          <a:noFill/>
        </p:spPr>
        <p:txBody>
          <a:bodyPr wrap="square" anchor="t">
            <a:spAutoFit/>
          </a:bodyPr>
          <a:lstStyle/>
          <a:p>
            <a:pPr algn="l"/>
            <a:r>
              <a:rPr sz="1600" b="1" i="0">
                <a:solidFill>
                  <a:srgbClr val="0F172A"/>
                </a:solidFill>
                <a:latin typeface="Calibri"/>
              </a:rPr>
              <a:t>Data moat</a:t>
            </a:r>
          </a:p>
        </p:txBody>
      </p:sp>
      <p:sp>
        <p:nvSpPr>
          <p:cNvPr id="20" name="TextBox 19"/>
          <p:cNvSpPr txBox="1"/>
          <p:nvPr/>
        </p:nvSpPr>
        <p:spPr>
          <a:xfrm>
            <a:off x="4457700" y="5349240"/>
            <a:ext cx="3200400" cy="548640"/>
          </a:xfrm>
          <a:prstGeom prst="rect">
            <a:avLst/>
          </a:prstGeom>
          <a:noFill/>
        </p:spPr>
        <p:txBody>
          <a:bodyPr wrap="square" anchor="t">
            <a:spAutoFit/>
          </a:bodyPr>
          <a:lstStyle/>
          <a:p>
            <a:pPr algn="l"/>
            <a:r>
              <a:rPr sz="1300" b="0" i="0">
                <a:solidFill>
                  <a:srgbClr val="475569"/>
                </a:solidFill>
                <a:latin typeface="Calibri"/>
              </a:rPr>
              <a:t>site graphs + behavioural completion data nobody else has</a:t>
            </a:r>
          </a:p>
        </p:txBody>
      </p:sp>
      <p:sp>
        <p:nvSpPr>
          <p:cNvPr id="21" name="Rounded Rectangle 20"/>
          <p:cNvSpPr/>
          <p:nvPr/>
        </p:nvSpPr>
        <p:spPr>
          <a:xfrm>
            <a:off x="8001000" y="4754880"/>
            <a:ext cx="3566160" cy="118872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4892040"/>
            <a:ext cx="3200400" cy="457200"/>
          </a:xfrm>
          <a:prstGeom prst="rect">
            <a:avLst/>
          </a:prstGeom>
          <a:noFill/>
        </p:spPr>
        <p:txBody>
          <a:bodyPr wrap="square" anchor="t">
            <a:spAutoFit/>
          </a:bodyPr>
          <a:lstStyle/>
          <a:p>
            <a:pPr algn="l"/>
            <a:r>
              <a:rPr sz="1600" b="1" i="0">
                <a:solidFill>
                  <a:srgbClr val="0F172A"/>
                </a:solidFill>
                <a:latin typeface="Calibri"/>
              </a:rPr>
              <a:t>Go to market</a:t>
            </a:r>
          </a:p>
        </p:txBody>
      </p:sp>
      <p:sp>
        <p:nvSpPr>
          <p:cNvPr id="23" name="TextBox 22"/>
          <p:cNvSpPr txBox="1"/>
          <p:nvPr/>
        </p:nvSpPr>
        <p:spPr>
          <a:xfrm>
            <a:off x="8183879" y="5349240"/>
            <a:ext cx="3200400" cy="548640"/>
          </a:xfrm>
          <a:prstGeom prst="rect">
            <a:avLst/>
          </a:prstGeom>
          <a:noFill/>
        </p:spPr>
        <p:txBody>
          <a:bodyPr wrap="square" anchor="t">
            <a:spAutoFit/>
          </a:bodyPr>
          <a:lstStyle/>
          <a:p>
            <a:pPr algn="l"/>
            <a:r>
              <a:rPr sz="1300" b="0" i="0">
                <a:solidFill>
                  <a:srgbClr val="475569"/>
                </a:solidFill>
                <a:latin typeface="Calibri"/>
              </a:rPr>
              <a:t>one takaful + one council pilot, measured vs the next street</a:t>
            </a:r>
          </a:p>
        </p:txBody>
      </p:sp>
      <p:sp>
        <p:nvSpPr>
          <p:cNvPr id="24" name="TextBox 23"/>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We measure impact, not adjectives</a:t>
            </a:r>
          </a:p>
        </p:txBody>
      </p:sp>
      <p:sp>
        <p:nvSpPr>
          <p:cNvPr id="4" name="Rounded Rectangle 3"/>
          <p:cNvSpPr/>
          <p:nvPr/>
        </p:nvSpPr>
        <p:spPr>
          <a:xfrm>
            <a:off x="548640" y="1737360"/>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3108960" cy="731520"/>
          </a:xfrm>
          <a:prstGeom prst="rect">
            <a:avLst/>
          </a:prstGeom>
          <a:noFill/>
        </p:spPr>
        <p:txBody>
          <a:bodyPr wrap="square" anchor="t">
            <a:spAutoFit/>
          </a:bodyPr>
          <a:lstStyle/>
          <a:p>
            <a:pPr algn="ctr"/>
            <a:r>
              <a:rPr sz="3400" b="1" i="0">
                <a:solidFill>
                  <a:srgbClr val="0284C7"/>
                </a:solidFill>
                <a:latin typeface="Calibri"/>
              </a:rPr>
              <a:t>RM 10,600–22,200</a:t>
            </a:r>
          </a:p>
        </p:txBody>
      </p:sp>
      <p:sp>
        <p:nvSpPr>
          <p:cNvPr id="6" name="TextBox 5"/>
          <p:cNvSpPr txBox="1"/>
          <p:nvPr/>
        </p:nvSpPr>
        <p:spPr>
          <a:xfrm>
            <a:off x="685800" y="2743200"/>
            <a:ext cx="3108960" cy="365760"/>
          </a:xfrm>
          <a:prstGeom prst="rect">
            <a:avLst/>
          </a:prstGeom>
          <a:noFill/>
        </p:spPr>
        <p:txBody>
          <a:bodyPr wrap="square" anchor="t">
            <a:spAutoFit/>
          </a:bodyPr>
          <a:lstStyle/>
          <a:p>
            <a:pPr algn="ctr"/>
            <a:r>
              <a:rPr sz="1600" b="0" i="0">
                <a:solidFill>
                  <a:srgbClr val="475569"/>
                </a:solidFill>
                <a:latin typeface="Calibri"/>
              </a:rPr>
              <a:t>protected per event</a:t>
            </a:r>
          </a:p>
        </p:txBody>
      </p:sp>
      <p:sp>
        <p:nvSpPr>
          <p:cNvPr id="7" name="Rounded Rectangle 6"/>
          <p:cNvSpPr/>
          <p:nvPr/>
        </p:nvSpPr>
        <p:spPr>
          <a:xfrm>
            <a:off x="4160520" y="1737360"/>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7680" y="1965960"/>
            <a:ext cx="3108960" cy="731520"/>
          </a:xfrm>
          <a:prstGeom prst="rect">
            <a:avLst/>
          </a:prstGeom>
          <a:noFill/>
        </p:spPr>
        <p:txBody>
          <a:bodyPr wrap="square" anchor="t">
            <a:spAutoFit/>
          </a:bodyPr>
          <a:lstStyle/>
          <a:p>
            <a:pPr algn="ctr"/>
            <a:r>
              <a:rPr sz="3400" b="1" i="0">
                <a:solidFill>
                  <a:srgbClr val="0284C7"/>
                </a:solidFill>
                <a:latin typeface="Calibri"/>
              </a:rPr>
              <a:t>3h 12m</a:t>
            </a:r>
          </a:p>
        </p:txBody>
      </p:sp>
      <p:sp>
        <p:nvSpPr>
          <p:cNvPr id="9" name="TextBox 8"/>
          <p:cNvSpPr txBox="1"/>
          <p:nvPr/>
        </p:nvSpPr>
        <p:spPr>
          <a:xfrm>
            <a:off x="4297680" y="2743200"/>
            <a:ext cx="3108960" cy="365760"/>
          </a:xfrm>
          <a:prstGeom prst="rect">
            <a:avLst/>
          </a:prstGeom>
          <a:noFill/>
        </p:spPr>
        <p:txBody>
          <a:bodyPr wrap="square" anchor="t">
            <a:spAutoFit/>
          </a:bodyPr>
          <a:lstStyle/>
          <a:p>
            <a:pPr algn="ctr"/>
            <a:r>
              <a:rPr sz="1600" b="0" i="0">
                <a:solidFill>
                  <a:srgbClr val="475569"/>
                </a:solidFill>
                <a:latin typeface="Calibri"/>
              </a:rPr>
              <a:t>warning lead time</a:t>
            </a:r>
          </a:p>
        </p:txBody>
      </p:sp>
      <p:sp>
        <p:nvSpPr>
          <p:cNvPr id="10" name="Rounded Rectangle 9"/>
          <p:cNvSpPr/>
          <p:nvPr/>
        </p:nvSpPr>
        <p:spPr>
          <a:xfrm>
            <a:off x="7772400" y="1737360"/>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09560" y="1965960"/>
            <a:ext cx="3108960" cy="731520"/>
          </a:xfrm>
          <a:prstGeom prst="rect">
            <a:avLst/>
          </a:prstGeom>
          <a:noFill/>
        </p:spPr>
        <p:txBody>
          <a:bodyPr wrap="square" anchor="t">
            <a:spAutoFit/>
          </a:bodyPr>
          <a:lstStyle/>
          <a:p>
            <a:pPr algn="ctr"/>
            <a:r>
              <a:rPr sz="3400" b="1" i="0">
                <a:solidFill>
                  <a:srgbClr val="0284C7"/>
                </a:solidFill>
                <a:latin typeface="Calibri"/>
              </a:rPr>
              <a:t>2.0s</a:t>
            </a:r>
          </a:p>
        </p:txBody>
      </p:sp>
      <p:sp>
        <p:nvSpPr>
          <p:cNvPr id="12" name="TextBox 11"/>
          <p:cNvSpPr txBox="1"/>
          <p:nvPr/>
        </p:nvSpPr>
        <p:spPr>
          <a:xfrm>
            <a:off x="7909560" y="2743200"/>
            <a:ext cx="3108960" cy="365760"/>
          </a:xfrm>
          <a:prstGeom prst="rect">
            <a:avLst/>
          </a:prstGeom>
          <a:noFill/>
        </p:spPr>
        <p:txBody>
          <a:bodyPr wrap="square" anchor="t">
            <a:spAutoFit/>
          </a:bodyPr>
          <a:lstStyle/>
          <a:p>
            <a:pPr algn="ctr"/>
            <a:r>
              <a:rPr sz="1600" b="0" i="0">
                <a:solidFill>
                  <a:srgbClr val="475569"/>
                </a:solidFill>
                <a:latin typeface="Calibri"/>
              </a:rPr>
              <a:t>dispatch latency</a:t>
            </a:r>
          </a:p>
        </p:txBody>
      </p:sp>
      <p:sp>
        <p:nvSpPr>
          <p:cNvPr id="13" name="Rounded Rectangle 12"/>
          <p:cNvSpPr/>
          <p:nvPr/>
        </p:nvSpPr>
        <p:spPr>
          <a:xfrm>
            <a:off x="548640" y="3520439"/>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749039"/>
            <a:ext cx="3108960" cy="731520"/>
          </a:xfrm>
          <a:prstGeom prst="rect">
            <a:avLst/>
          </a:prstGeom>
          <a:noFill/>
        </p:spPr>
        <p:txBody>
          <a:bodyPr wrap="square" anchor="t">
            <a:spAutoFit/>
          </a:bodyPr>
          <a:lstStyle/>
          <a:p>
            <a:pPr algn="ctr"/>
            <a:r>
              <a:rPr sz="3400" b="1" i="0">
                <a:solidFill>
                  <a:srgbClr val="0284C7"/>
                </a:solidFill>
                <a:latin typeface="Calibri"/>
              </a:rPr>
              <a:t>83%</a:t>
            </a:r>
          </a:p>
        </p:txBody>
      </p:sp>
      <p:sp>
        <p:nvSpPr>
          <p:cNvPr id="15" name="TextBox 14"/>
          <p:cNvSpPr txBox="1"/>
          <p:nvPr/>
        </p:nvSpPr>
        <p:spPr>
          <a:xfrm>
            <a:off x="685800" y="4526279"/>
            <a:ext cx="3108960" cy="365760"/>
          </a:xfrm>
          <a:prstGeom prst="rect">
            <a:avLst/>
          </a:prstGeom>
          <a:noFill/>
        </p:spPr>
        <p:txBody>
          <a:bodyPr wrap="square" anchor="t">
            <a:spAutoFit/>
          </a:bodyPr>
          <a:lstStyle/>
          <a:p>
            <a:pPr algn="ctr"/>
            <a:r>
              <a:rPr sz="1600" b="0" i="0">
                <a:solidFill>
                  <a:srgbClr val="475569"/>
                </a:solidFill>
                <a:latin typeface="Calibri"/>
              </a:rPr>
              <a:t>actions completed</a:t>
            </a:r>
          </a:p>
        </p:txBody>
      </p:sp>
      <p:sp>
        <p:nvSpPr>
          <p:cNvPr id="16" name="Rounded Rectangle 15"/>
          <p:cNvSpPr/>
          <p:nvPr/>
        </p:nvSpPr>
        <p:spPr>
          <a:xfrm>
            <a:off x="4160520" y="3520439"/>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3749039"/>
            <a:ext cx="3108960" cy="731520"/>
          </a:xfrm>
          <a:prstGeom prst="rect">
            <a:avLst/>
          </a:prstGeom>
          <a:noFill/>
        </p:spPr>
        <p:txBody>
          <a:bodyPr wrap="square" anchor="t">
            <a:spAutoFit/>
          </a:bodyPr>
          <a:lstStyle/>
          <a:p>
            <a:pPr algn="ctr"/>
            <a:r>
              <a:rPr sz="3400" b="1" i="0">
                <a:solidFill>
                  <a:srgbClr val="0284C7"/>
                </a:solidFill>
                <a:latin typeface="Calibri"/>
              </a:rPr>
              <a:t>90s</a:t>
            </a:r>
          </a:p>
        </p:txBody>
      </p:sp>
      <p:sp>
        <p:nvSpPr>
          <p:cNvPr id="18" name="TextBox 17"/>
          <p:cNvSpPr txBox="1"/>
          <p:nvPr/>
        </p:nvSpPr>
        <p:spPr>
          <a:xfrm>
            <a:off x="4297680" y="4526279"/>
            <a:ext cx="3108960" cy="365760"/>
          </a:xfrm>
          <a:prstGeom prst="rect">
            <a:avLst/>
          </a:prstGeom>
          <a:noFill/>
        </p:spPr>
        <p:txBody>
          <a:bodyPr wrap="square" anchor="t">
            <a:spAutoFit/>
          </a:bodyPr>
          <a:lstStyle/>
          <a:p>
            <a:pPr algn="ctr"/>
            <a:r>
              <a:rPr sz="1600" b="0" i="0">
                <a:solidFill>
                  <a:srgbClr val="475569"/>
                </a:solidFill>
                <a:latin typeface="Calibri"/>
              </a:rPr>
              <a:t>to first action</a:t>
            </a:r>
          </a:p>
        </p:txBody>
      </p:sp>
      <p:sp>
        <p:nvSpPr>
          <p:cNvPr id="19" name="Rounded Rectangle 18"/>
          <p:cNvSpPr/>
          <p:nvPr/>
        </p:nvSpPr>
        <p:spPr>
          <a:xfrm>
            <a:off x="7772400" y="3520439"/>
            <a:ext cx="3383280" cy="1554480"/>
          </a:xfrm>
          <a:prstGeom prst="roundRect">
            <a:avLst>
              <a:gd name="adj" fmla="val 6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9560" y="3749039"/>
            <a:ext cx="3108960" cy="731520"/>
          </a:xfrm>
          <a:prstGeom prst="rect">
            <a:avLst/>
          </a:prstGeom>
          <a:noFill/>
        </p:spPr>
        <p:txBody>
          <a:bodyPr wrap="square" anchor="t">
            <a:spAutoFit/>
          </a:bodyPr>
          <a:lstStyle/>
          <a:p>
            <a:pPr algn="ctr"/>
            <a:r>
              <a:rPr sz="3400" b="1" i="0">
                <a:solidFill>
                  <a:srgbClr val="0284C7"/>
                </a:solidFill>
                <a:latin typeface="Calibri"/>
              </a:rPr>
              <a:t>4 min</a:t>
            </a:r>
          </a:p>
        </p:txBody>
      </p:sp>
      <p:sp>
        <p:nvSpPr>
          <p:cNvPr id="21" name="TextBox 20"/>
          <p:cNvSpPr txBox="1"/>
          <p:nvPr/>
        </p:nvSpPr>
        <p:spPr>
          <a:xfrm>
            <a:off x="7909560" y="4526279"/>
            <a:ext cx="3108960" cy="365760"/>
          </a:xfrm>
          <a:prstGeom prst="rect">
            <a:avLst/>
          </a:prstGeom>
          <a:noFill/>
        </p:spPr>
        <p:txBody>
          <a:bodyPr wrap="square" anchor="t">
            <a:spAutoFit/>
          </a:bodyPr>
          <a:lstStyle/>
          <a:p>
            <a:pPr algn="ctr"/>
            <a:r>
              <a:rPr sz="1600" b="0" i="0">
                <a:solidFill>
                  <a:srgbClr val="475569"/>
                </a:solidFill>
                <a:latin typeface="Calibri"/>
              </a:rPr>
              <a:t>claim report (vs weeks)</a:t>
            </a:r>
          </a:p>
        </p:txBody>
      </p:sp>
      <p:sp>
        <p:nvSpPr>
          <p:cNvPr id="22" name="TextBox 21"/>
          <p:cNvSpPr txBox="1"/>
          <p:nvPr/>
        </p:nvSpPr>
        <p:spPr>
          <a:xfrm>
            <a:off x="548640" y="5394960"/>
            <a:ext cx="11091672" cy="457200"/>
          </a:xfrm>
          <a:prstGeom prst="rect">
            <a:avLst/>
          </a:prstGeom>
          <a:noFill/>
        </p:spPr>
        <p:txBody>
          <a:bodyPr wrap="square" anchor="t">
            <a:spAutoFit/>
          </a:bodyPr>
          <a:lstStyle/>
          <a:p>
            <a:pPr algn="ctr"/>
            <a:r>
              <a:rPr sz="1800" b="0" i="0">
                <a:solidFill>
                  <a:srgbClr val="0F172A"/>
                </a:solidFill>
                <a:latin typeface="Calibri"/>
              </a:rPr>
              <a:t>The numbers a takaful actuary and a council underwrite against.</a:t>
            </a:r>
          </a:p>
        </p:txBody>
      </p:sp>
      <p:sp>
        <p:nvSpPr>
          <p:cNvPr id="23" name="TextBox 22"/>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Built as a system, not an app</a:t>
            </a:r>
          </a:p>
        </p:txBody>
      </p:sp>
      <p:sp>
        <p:nvSpPr>
          <p:cNvPr id="4" name="Rounded Rectangle 3"/>
          <p:cNvSpPr/>
          <p:nvPr/>
        </p:nvSpPr>
        <p:spPr>
          <a:xfrm>
            <a:off x="548640" y="1645920"/>
            <a:ext cx="5303520" cy="1051560"/>
          </a:xfrm>
          <a:prstGeom prst="roundRect">
            <a:avLst>
              <a:gd name="adj" fmla="val 6000"/>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55648"/>
            <a:ext cx="4937760" cy="320040"/>
          </a:xfrm>
          <a:prstGeom prst="rect">
            <a:avLst/>
          </a:prstGeom>
          <a:noFill/>
        </p:spPr>
        <p:txBody>
          <a:bodyPr wrap="square" anchor="t">
            <a:spAutoFit/>
          </a:bodyPr>
          <a:lstStyle/>
          <a:p>
            <a:pPr algn="l"/>
            <a:r>
              <a:rPr sz="1400" b="1" i="0">
                <a:solidFill>
                  <a:srgbClr val="16A34A"/>
                </a:solidFill>
                <a:latin typeface="Calibri"/>
              </a:rPr>
              <a:t>BALANCING</a:t>
            </a:r>
          </a:p>
        </p:txBody>
      </p:sp>
      <p:sp>
        <p:nvSpPr>
          <p:cNvPr id="6" name="TextBox 5"/>
          <p:cNvSpPr txBox="1"/>
          <p:nvPr/>
        </p:nvSpPr>
        <p:spPr>
          <a:xfrm>
            <a:off x="777240" y="2103120"/>
            <a:ext cx="4937760" cy="548640"/>
          </a:xfrm>
          <a:prstGeom prst="rect">
            <a:avLst/>
          </a:prstGeom>
          <a:noFill/>
        </p:spPr>
        <p:txBody>
          <a:bodyPr wrap="square" anchor="t">
            <a:spAutoFit/>
          </a:bodyPr>
          <a:lstStyle/>
          <a:p>
            <a:pPr algn="l"/>
            <a:r>
              <a:rPr sz="1600" b="0" i="0">
                <a:solidFill>
                  <a:srgbClr val="0F172A"/>
                </a:solidFill>
                <a:latin typeface="Calibri"/>
              </a:rPr>
              <a:t>completed checklists → better playbooks (learns each monsoon)</a:t>
            </a:r>
          </a:p>
        </p:txBody>
      </p:sp>
      <p:sp>
        <p:nvSpPr>
          <p:cNvPr id="7" name="Rounded Rectangle 6"/>
          <p:cNvSpPr/>
          <p:nvPr/>
        </p:nvSpPr>
        <p:spPr>
          <a:xfrm>
            <a:off x="548640" y="2834640"/>
            <a:ext cx="5303520" cy="1051560"/>
          </a:xfrm>
          <a:prstGeom prst="roundRect">
            <a:avLst>
              <a:gd name="adj" fmla="val 6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944368"/>
            <a:ext cx="4937760" cy="320040"/>
          </a:xfrm>
          <a:prstGeom prst="rect">
            <a:avLst/>
          </a:prstGeom>
          <a:noFill/>
        </p:spPr>
        <p:txBody>
          <a:bodyPr wrap="square" anchor="t">
            <a:spAutoFit/>
          </a:bodyPr>
          <a:lstStyle/>
          <a:p>
            <a:pPr algn="l"/>
            <a:r>
              <a:rPr sz="1400" b="1" i="0">
                <a:solidFill>
                  <a:srgbClr val="0284C7"/>
                </a:solidFill>
                <a:latin typeface="Calibri"/>
              </a:rPr>
              <a:t>REINFORCING</a:t>
            </a:r>
          </a:p>
        </p:txBody>
      </p:sp>
      <p:sp>
        <p:nvSpPr>
          <p:cNvPr id="9" name="TextBox 8"/>
          <p:cNvSpPr txBox="1"/>
          <p:nvPr/>
        </p:nvSpPr>
        <p:spPr>
          <a:xfrm>
            <a:off x="777240" y="3291840"/>
            <a:ext cx="4937760" cy="548640"/>
          </a:xfrm>
          <a:prstGeom prst="rect">
            <a:avLst/>
          </a:prstGeom>
          <a:noFill/>
        </p:spPr>
        <p:txBody>
          <a:bodyPr wrap="square" anchor="t">
            <a:spAutoFit/>
          </a:bodyPr>
          <a:lstStyle/>
          <a:p>
            <a:pPr algn="l"/>
            <a:r>
              <a:rPr sz="1600" b="0" i="0">
                <a:solidFill>
                  <a:srgbClr val="0F172A"/>
                </a:solidFill>
                <a:latin typeface="Calibri"/>
              </a:rPr>
              <a:t>paid claims → trust → more shops (grows from use)</a:t>
            </a:r>
          </a:p>
        </p:txBody>
      </p:sp>
      <p:graphicFrame>
        <p:nvGraphicFramePr>
          <p:cNvPr id="10" name="Table 9"/>
          <p:cNvGraphicFramePr>
            <a:graphicFrameLocks noGrp="1"/>
          </p:cNvGraphicFramePr>
          <p:nvPr/>
        </p:nvGraphicFramePr>
        <p:xfrm>
          <a:off x="6126480" y="1645920"/>
          <a:ext cx="5486400" cy="2377440"/>
        </p:xfrm>
        <a:graphic>
          <a:graphicData uri="http://schemas.openxmlformats.org/drawingml/2006/table">
            <a:tbl>
              <a:tblPr firstRow="1" bandRow="1">
                <a:tableStyleId>{5C22544A-7EE6-4342-B048-85BDC9FD1C3A}</a:tableStyleId>
              </a:tblPr>
              <a:tblGrid>
                <a:gridCol w="1828800"/>
                <a:gridCol w="3657600"/>
              </a:tblGrid>
              <a:tr h="594360">
                <a:tc>
                  <a:txBody>
                    <a:bodyPr wrap="square"/>
                    <a:lstStyle/>
                    <a:p>
                      <a:r>
                        <a:rPr sz="1400" b="1">
                          <a:solidFill>
                            <a:srgbClr val="FFFFFF"/>
                          </a:solidFill>
                          <a:latin typeface="Calibri"/>
                        </a:rPr>
                        <a:t>If…</a:t>
                      </a:r>
                    </a:p>
                  </a:txBody>
                  <a:tcPr>
                    <a:solidFill>
                      <a:srgbClr val="0284C7"/>
                    </a:solidFill>
                  </a:tcPr>
                </a:tc>
                <a:tc>
                  <a:txBody>
                    <a:bodyPr wrap="square"/>
                    <a:lstStyle/>
                    <a:p>
                      <a:r>
                        <a:rPr sz="1400" b="1">
                          <a:solidFill>
                            <a:srgbClr val="FFFFFF"/>
                          </a:solidFill>
                          <a:latin typeface="Calibri"/>
                        </a:rPr>
                        <a:t>Then…</a:t>
                      </a:r>
                    </a:p>
                  </a:txBody>
                  <a:tcPr>
                    <a:solidFill>
                      <a:srgbClr val="0284C7"/>
                    </a:solidFill>
                  </a:tcPr>
                </a:tc>
              </a:tr>
              <a:tr h="594360">
                <a:tc>
                  <a:txBody>
                    <a:bodyPr wrap="square"/>
                    <a:lstStyle/>
                    <a:p>
                      <a:r>
                        <a:rPr sz="1300" b="0">
                          <a:solidFill>
                            <a:srgbClr val="0F172A"/>
                          </a:solidFill>
                          <a:latin typeface="Calibri"/>
                        </a:rPr>
                        <a:t>Data feed dies</a:t>
                      </a:r>
                    </a:p>
                  </a:txBody>
                  <a:tcPr>
                    <a:solidFill>
                      <a:srgbClr val="FFFFFF"/>
                    </a:solidFill>
                  </a:tcPr>
                </a:tc>
                <a:tc>
                  <a:txBody>
                    <a:bodyPr wrap="square"/>
                    <a:lstStyle/>
                    <a:p>
                      <a:r>
                        <a:rPr sz="1300" b="0">
                          <a:solidFill>
                            <a:srgbClr val="0F172A"/>
                          </a:solidFill>
                          <a:latin typeface="Calibri"/>
                        </a:rPr>
                        <a:t>Watchdog: treat heavy rain as a warning</a:t>
                      </a:r>
                    </a:p>
                  </a:txBody>
                  <a:tcPr>
                    <a:solidFill>
                      <a:srgbClr val="FFFFFF"/>
                    </a:solidFill>
                  </a:tcPr>
                </a:tc>
              </a:tr>
              <a:tr h="594360">
                <a:tc>
                  <a:txBody>
                    <a:bodyPr wrap="square"/>
                    <a:lstStyle/>
                    <a:p>
                      <a:r>
                        <a:rPr sz="1300" b="0">
                          <a:solidFill>
                            <a:srgbClr val="0F172A"/>
                          </a:solidFill>
                          <a:latin typeface="Calibri"/>
                        </a:rPr>
                        <a:t>Network dies</a:t>
                      </a:r>
                    </a:p>
                  </a:txBody>
                  <a:tcPr>
                    <a:solidFill>
                      <a:srgbClr val="FFFFFF"/>
                    </a:solidFill>
                  </a:tcPr>
                </a:tc>
                <a:tc>
                  <a:txBody>
                    <a:bodyPr wrap="square"/>
                    <a:lstStyle/>
                    <a:p>
                      <a:r>
                        <a:rPr sz="1300" b="0">
                          <a:solidFill>
                            <a:srgbClr val="0F172A"/>
                          </a:solidFill>
                          <a:latin typeface="Calibri"/>
                        </a:rPr>
                        <a:t>Earliest tier fired hours early + paper plan</a:t>
                      </a:r>
                    </a:p>
                  </a:txBody>
                  <a:tcPr>
                    <a:solidFill>
                      <a:srgbClr val="FFFFFF"/>
                    </a:solidFill>
                  </a:tcPr>
                </a:tc>
              </a:tr>
              <a:tr h="594360">
                <a:tc>
                  <a:txBody>
                    <a:bodyPr wrap="square"/>
                    <a:lstStyle/>
                    <a:p>
                      <a:r>
                        <a:rPr sz="1300" b="0">
                          <a:solidFill>
                            <a:srgbClr val="0F172A"/>
                          </a:solidFill>
                          <a:latin typeface="Calibri"/>
                        </a:rPr>
                        <a:t>Floods double</a:t>
                      </a:r>
                    </a:p>
                  </a:txBody>
                  <a:tcPr>
                    <a:solidFill>
                      <a:srgbClr val="FFFFFF"/>
                    </a:solidFill>
                  </a:tcPr>
                </a:tc>
                <a:tc>
                  <a:txBody>
                    <a:bodyPr wrap="square"/>
                    <a:lstStyle/>
                    <a:p>
                      <a:r>
                        <a:rPr sz="1300" b="0">
                          <a:solidFill>
                            <a:srgbClr val="0F172A"/>
                          </a:solidFill>
                          <a:latin typeface="Calibri"/>
                        </a:rPr>
                        <a:t>Marginal cost ≈ 0 — plans already cached</a:t>
                      </a:r>
                    </a:p>
                  </a:txBody>
                  <a:tcPr>
                    <a:solidFill>
                      <a:srgbClr val="FFFFFF"/>
                    </a:solidFill>
                  </a:tcPr>
                </a:tc>
              </a:tr>
            </a:tbl>
          </a:graphicData>
        </a:graphic>
      </p:graphicFrame>
      <p:sp>
        <p:nvSpPr>
          <p:cNvPr id="11" name="Rectangle 10"/>
          <p:cNvSpPr/>
          <p:nvPr/>
        </p:nvSpPr>
        <p:spPr>
          <a:xfrm>
            <a:off x="548640" y="5394960"/>
            <a:ext cx="11091672" cy="54864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latin typeface="Calibri"/>
              </a:rPr>
              <a:t>3 channels — Telegram · SMS · Paper. No single point of failure.</a:t>
            </a:r>
          </a:p>
        </p:txBody>
      </p:sp>
      <p:sp>
        <p:nvSpPr>
          <p:cNvPr id="12" name="TextBox 11"/>
          <p:cNvSpPr txBox="1"/>
          <p:nvPr/>
        </p:nvSpPr>
        <p:spPr>
          <a:xfrm>
            <a:off x="548640" y="6446520"/>
            <a:ext cx="11091672" cy="320040"/>
          </a:xfrm>
          <a:prstGeom prst="rect">
            <a:avLst/>
          </a:prstGeom>
          <a:noFill/>
        </p:spPr>
        <p:txBody>
          <a:bodyPr wrap="square" anchor="t">
            <a:spAutoFit/>
          </a:bodyPr>
          <a:lstStyle/>
          <a:p>
            <a:pPr algn="l"/>
            <a:r>
              <a:rPr sz="1100" b="0" i="0">
                <a:solidFill>
                  <a:srgbClr val="475569"/>
                </a:solidFill>
                <a:latin typeface="Calibri"/>
              </a:rPr>
              <a:t>BanjirKawan · Climate Systems Hackathon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1672" cy="822960"/>
          </a:xfrm>
          <a:prstGeom prst="rect">
            <a:avLst/>
          </a:prstGeom>
          <a:noFill/>
        </p:spPr>
        <p:txBody>
          <a:bodyPr wrap="square" anchor="t">
            <a:spAutoFit/>
          </a:bodyPr>
          <a:lstStyle/>
          <a:p>
            <a:pPr algn="l"/>
            <a:r>
              <a:rPr sz="4000" b="1" i="0">
                <a:solidFill>
                  <a:srgbClr val="0F172A"/>
                </a:solidFill>
                <a:latin typeface="Calibri"/>
              </a:rPr>
              <a:t>Same monsoon. Same last-metre gap. Same fix.</a:t>
            </a:r>
          </a:p>
        </p:txBody>
      </p:sp>
      <p:sp>
        <p:nvSpPr>
          <p:cNvPr id="4" name="Rounded Rectangle 3"/>
          <p:cNvSpPr/>
          <p:nvPr/>
        </p:nvSpPr>
        <p:spPr>
          <a:xfrm>
            <a:off x="548640"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Shah Alam</a:t>
            </a:r>
          </a:p>
        </p:txBody>
      </p:sp>
      <p:sp>
        <p:nvSpPr>
          <p:cNvPr id="5" name="Rounded Rectangle 4"/>
          <p:cNvSpPr/>
          <p:nvPr/>
        </p:nvSpPr>
        <p:spPr>
          <a:xfrm>
            <a:off x="3319272"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Johor</a:t>
            </a:r>
          </a:p>
        </p:txBody>
      </p:sp>
      <p:sp>
        <p:nvSpPr>
          <p:cNvPr id="6" name="Rounded Rectangle 5"/>
          <p:cNvSpPr/>
          <p:nvPr/>
        </p:nvSpPr>
        <p:spPr>
          <a:xfrm>
            <a:off x="6089903"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Jakarta</a:t>
            </a:r>
          </a:p>
        </p:txBody>
      </p:sp>
      <p:sp>
        <p:nvSpPr>
          <p:cNvPr id="7" name="Rounded Rectangle 6"/>
          <p:cNvSpPr/>
          <p:nvPr/>
        </p:nvSpPr>
        <p:spPr>
          <a:xfrm>
            <a:off x="8860536" y="1828800"/>
            <a:ext cx="2468880" cy="731520"/>
          </a:xfrm>
          <a:prstGeom prst="roundRect">
            <a:avLst>
              <a:gd name="adj" fmla="val 6000"/>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Calibri"/>
              </a:rPr>
              <a:t>Medan / Bukit Lawang</a:t>
            </a:r>
          </a:p>
        </p:txBody>
      </p:sp>
      <p:sp>
        <p:nvSpPr>
          <p:cNvPr id="8" name="TextBox 7"/>
          <p:cNvSpPr txBox="1"/>
          <p:nvPr/>
        </p:nvSpPr>
        <p:spPr>
          <a:xfrm>
            <a:off x="548640" y="2743200"/>
            <a:ext cx="11091672" cy="457200"/>
          </a:xfrm>
          <a:prstGeom prst="rect">
            <a:avLst/>
          </a:prstGeom>
          <a:noFill/>
        </p:spPr>
        <p:txBody>
          <a:bodyPr wrap="square" anchor="t">
            <a:spAutoFit/>
          </a:bodyPr>
          <a:lstStyle/>
          <a:p>
            <a:pPr algn="ctr"/>
            <a:r>
              <a:rPr sz="1500" b="0" i="0">
                <a:solidFill>
                  <a:srgbClr val="475569"/>
                </a:solidFill>
                <a:latin typeface="Calibri"/>
              </a:rPr>
              <a:t>Same monsoon, same last-metre gap, same fix, same three payers.</a:t>
            </a:r>
          </a:p>
        </p:txBody>
      </p:sp>
      <p:sp>
        <p:nvSpPr>
          <p:cNvPr id="9" name="TextBox 8"/>
          <p:cNvSpPr txBox="1"/>
          <p:nvPr/>
        </p:nvSpPr>
        <p:spPr>
          <a:xfrm>
            <a:off x="914400" y="3566160"/>
            <a:ext cx="10360152" cy="1463040"/>
          </a:xfrm>
          <a:prstGeom prst="rect">
            <a:avLst/>
          </a:prstGeom>
          <a:noFill/>
        </p:spPr>
        <p:txBody>
          <a:bodyPr wrap="square" anchor="t">
            <a:spAutoFit/>
          </a:bodyPr>
          <a:lstStyle/>
          <a:p>
            <a:pPr algn="ctr"/>
            <a:r>
              <a:rPr sz="3000" b="1" i="0">
                <a:solidFill>
                  <a:srgbClr val="0284C7"/>
                </a:solidFill>
                <a:latin typeface="Calibri"/>
              </a:rPr>
              <a:t>“Every flood warning becomes a survival plan — and every survival plan becomes claim evidence.”</a:t>
            </a:r>
          </a:p>
        </p:txBody>
      </p:sp>
      <p:sp>
        <p:nvSpPr>
          <p:cNvPr id="10" name="TextBox 9"/>
          <p:cNvSpPr txBox="1"/>
          <p:nvPr/>
        </p:nvSpPr>
        <p:spPr>
          <a:xfrm>
            <a:off x="548640" y="5303520"/>
            <a:ext cx="11091672" cy="457200"/>
          </a:xfrm>
          <a:prstGeom prst="rect">
            <a:avLst/>
          </a:prstGeom>
          <a:noFill/>
        </p:spPr>
        <p:txBody>
          <a:bodyPr wrap="square" anchor="t">
            <a:spAutoFit/>
          </a:bodyPr>
          <a:lstStyle/>
          <a:p>
            <a:pPr algn="ctr"/>
            <a:r>
              <a:rPr sz="2000" b="0" i="0">
                <a:solidFill>
                  <a:srgbClr val="475569"/>
                </a:solidFill>
                <a:latin typeface="Calibri"/>
              </a:rPr>
              <a:t>BanjirKawan · Terima 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